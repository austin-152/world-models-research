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5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08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ithub.com/Austin-152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183059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9322" y="897266"/>
            <a:ext cx="2900586" cy="148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750" b="1" kern="0" spc="-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VLAW: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2750" b="1" kern="0" spc="-1" dirty="0" err="1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视觉-语言-动作策略与世界模型的迭代共提升框架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85775" y="3041619"/>
            <a:ext cx="290058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基于世界模型迭代优化的 VLA 策略改进框架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977060"/>
            <a:ext cx="112514" cy="128588"/>
          </a:xfrm>
          <a:prstGeom prst="rect">
            <a:avLst/>
          </a:prstGeom>
        </p:spPr>
      </p:pic>
      <p:sp>
        <p:nvSpPr>
          <p:cNvPr id="6" name="Text 2">
            <a:hlinkClick r:id="rId5"/>
          </p:cNvPr>
          <p:cNvSpPr/>
          <p:nvPr/>
        </p:nvSpPr>
        <p:spPr>
          <a:xfrm>
            <a:off x="661429" y="3971343"/>
            <a:ext cx="53860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Austin-152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286027"/>
            <a:ext cx="11251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8289" y="4273525"/>
            <a:ext cx="691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2026年6月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3386361" y="57150"/>
            <a:ext cx="5814789" cy="51435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5043599" y="1378744"/>
            <a:ext cx="2500313" cy="250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99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VLAW</a:t>
            </a:r>
            <a:endParaRPr lang="en-US" sz="4150" dirty="0"/>
          </a:p>
        </p:txBody>
      </p:sp>
      <p:sp>
        <p:nvSpPr>
          <p:cNvPr id="11" name="Shape 6"/>
          <p:cNvSpPr/>
          <p:nvPr/>
        </p:nvSpPr>
        <p:spPr>
          <a:xfrm>
            <a:off x="6047296" y="985838"/>
            <a:ext cx="492919" cy="48398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3021" y="1096566"/>
            <a:ext cx="321469" cy="25717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79443" y="3787973"/>
            <a:ext cx="428625" cy="483989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168" y="3898702"/>
            <a:ext cx="257175" cy="25717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650693" y="2386905"/>
            <a:ext cx="460772" cy="48398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418" y="2497634"/>
            <a:ext cx="289322" cy="25717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508193" y="2386905"/>
            <a:ext cx="428625" cy="483989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3918" y="2497634"/>
            <a:ext cx="257175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研究背景：VLA 策略在真实世界中的挑战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76648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大规模训练后的局限性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2032927"/>
            <a:ext cx="22449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虽然 VLA 模型在海量演示数据上表现优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238645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异，但在特定下游任务中的可靠性仍需通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444362"/>
            <a:ext cx="1414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过在线交互进一步提升。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87510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在线数据采集的高昂成本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3141548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真实世界机器人交互极其耗时，涉及环境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347265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重置和人工监控，采集成本比模拟器高出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552983"/>
            <a:ext cx="7715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数个数量级。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983729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现有世界模型保真度不足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4250168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传统动作条件视频模型缺乏物理保真度，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455886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难以准确建模接触密集型操作和可变形物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8656" y="4661604"/>
            <a:ext cx="257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体。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8" y="771525"/>
            <a:ext cx="5357813" cy="2857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6138" y="3771900"/>
            <a:ext cx="538638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数据采集成本与可扩展性对比 (示意图)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2614613" cy="92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核心动机：为何现有世界模型难以用于策略改进？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0075" y="1875067"/>
            <a:ext cx="24431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数据覆盖不平衡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0075" y="2141506"/>
            <a:ext cx="2443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现有世界模型主要训练于专家演示数据，缺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0075" y="2347224"/>
            <a:ext cx="2393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乏对“失败案例”和“边缘交互场景”的建模。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0075" y="2670814"/>
            <a:ext cx="24431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物理建模缺陷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0075" y="2937253"/>
            <a:ext cx="2443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在涉及碰撞或可变形物体的任务中，预测往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0075" y="3142971"/>
            <a:ext cx="2443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往过于乐观（认为总会成功）或细节模糊。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0075" y="3466560"/>
            <a:ext cx="24431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保真度瓶颈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0075" y="3733000"/>
            <a:ext cx="2443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缺乏精细的物理反馈导致合成数据无法提供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0075" y="3938718"/>
            <a:ext cx="1285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有效的策略优化信号。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43238" y="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703" y="428625"/>
            <a:ext cx="385763" cy="5143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6897" y="1028700"/>
            <a:ext cx="18573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过于乐观 (Optimistic)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746897" y="1293019"/>
            <a:ext cx="18573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忽略物理碰撞与交互失败，预测轨迹始终趋向成功。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440091" y="1026914"/>
            <a:ext cx="18573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细节模糊 (Blurry)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40091" y="1291233"/>
            <a:ext cx="185737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无法准确还原接触点、夹爪压力及可变形物体的状态。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867615" y="1835944"/>
            <a:ext cx="4309104" cy="55364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"我们需要让世界模型通过少量真实交互，学会真正的物理规律。"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FE9BD0-61FD-9A12-A30F-D37F92B09CAE}"/>
              </a:ext>
            </a:extLst>
          </p:cNvPr>
          <p:cNvSpPr txBox="1"/>
          <p:nvPr/>
        </p:nvSpPr>
        <p:spPr>
          <a:xfrm>
            <a:off x="479160" y="502663"/>
            <a:ext cx="8182230" cy="799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000" dirty="0">
                <a:latin typeface="+mj-lt"/>
                <a:ea typeface="+mj-ea"/>
                <a:cs typeface="+mj-cs"/>
              </a:rPr>
              <a:t>创新点</a:t>
            </a:r>
            <a:endParaRPr lang="en-US" altLang="zh-CN" sz="50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2032" y="1350066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FA274-14B4-B424-A8A2-1F33D6EC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" y="1964838"/>
            <a:ext cx="2369276" cy="27000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0824F7-8A7C-7742-89C7-662A00E09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681" y="2138072"/>
            <a:ext cx="2818638" cy="23535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0F8B76-B86A-9C88-DDAE-D43BC2A63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906" y="2138072"/>
            <a:ext cx="2818638" cy="235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4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VLAW 核心思想：迭代共提升框架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21506" y="159503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双向协同逻辑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506" y="1861477"/>
            <a:ext cx="1543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利用真实数据校准世界模型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1506" y="2067195"/>
            <a:ext cx="23627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（Grounding），再利用校准后的世界模型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506" y="2272912"/>
            <a:ext cx="15323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放大数据规模（Scaling）。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1506" y="2567927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迭代闭环演进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506" y="2834367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策略与世界模型在交互中共同进化，形成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506" y="3040084"/>
            <a:ext cx="1764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“真实-想象-优化”的良性循环。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43238" y="0"/>
            <a:ext cx="6100763" cy="51435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3328988" y="357188"/>
            <a:ext cx="2628900" cy="1243013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471863" y="271463"/>
            <a:ext cx="214313" cy="214313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3471863" y="27146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703" y="500063"/>
            <a:ext cx="321469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1863" y="871538"/>
            <a:ext cx="23431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真实世界交互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71863" y="1116211"/>
            <a:ext cx="23431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利用当前策略收集少量包含成功与失败的在线轨迹。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086475" y="357188"/>
            <a:ext cx="2628900" cy="1243013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6229350" y="271463"/>
            <a:ext cx="214313" cy="214313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6229350" y="27146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050" y="500063"/>
            <a:ext cx="285750" cy="2857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29350" y="871538"/>
            <a:ext cx="23431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世界模型校准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229350" y="1116211"/>
            <a:ext cx="23431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在真实轨迹上微调世界模型，使其对齐物理规律。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328988" y="1700213"/>
            <a:ext cx="2628900" cy="1243013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3471863" y="1614488"/>
            <a:ext cx="214313" cy="214313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3471863" y="161448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844" y="1843088"/>
            <a:ext cx="357188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471863" y="2214563"/>
            <a:ext cx="23431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想象中生成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471863" y="2459236"/>
            <a:ext cx="234315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利用校准后的模型大规模并行生成高质量合成数据。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6086475" y="1700213"/>
            <a:ext cx="2628900" cy="1243013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6229350" y="1614488"/>
            <a:ext cx="214313" cy="214313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6"/>
          <p:cNvSpPr/>
          <p:nvPr/>
        </p:nvSpPr>
        <p:spPr>
          <a:xfrm>
            <a:off x="6229350" y="161448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8050" y="1843088"/>
            <a:ext cx="285750" cy="2857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29350" y="2214563"/>
            <a:ext cx="23431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策略更新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229350" y="2459236"/>
            <a:ext cx="23431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结合真实与合成数据，通过加权回归更新 VLA 策略。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3434358" y="3043238"/>
            <a:ext cx="5175647" cy="394692"/>
          </a:xfrm>
          <a:prstGeom prst="rect">
            <a:avLst/>
          </a:prstGeom>
          <a:noFill/>
          <a:ln/>
        </p:spPr>
        <p:txBody>
          <a:bodyPr wrap="square" lIns="255143" tIns="85090" rIns="255143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9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POLICY &amp; WORLD MODEL CO-IMPROVEMENT</a:t>
            </a:r>
            <a:endParaRPr lang="en-US" sz="140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F7EDB4D7-4CC0-E031-D921-C1C998EAD1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995" y="3249587"/>
            <a:ext cx="1461671" cy="1839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0531D1-DF59-6485-0F7E-A41928F55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51" y="164443"/>
            <a:ext cx="5149320" cy="4814614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1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技术细节：世界模型的物理对齐 (Grounding)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623613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基于 Ctrl-World 的微调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1890052"/>
            <a:ext cx="2185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以预训练的动作条件扩散视频模型为基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095770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础，在包含成功与失败案例的真实在线轨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301487"/>
            <a:ext cx="1157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迹上进行继续训练。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610789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建模能力的跃迁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2877229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通过微调，世界模型能够学习到任务相关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082947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的接触动态、复杂物理交互以及失败模式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288664"/>
            <a:ext cx="7715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的视觉表征。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597966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正则化协同训练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3864406"/>
            <a:ext cx="2400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引入大规模 DROID 数据集进行协同训练，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070124"/>
            <a:ext cx="2185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防止模型在有限的在线数据上产生过拟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8656" y="4275841"/>
            <a:ext cx="257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合。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350669" y="571500"/>
            <a:ext cx="1457325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364956" y="748308"/>
            <a:ext cx="9554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Pre-trained World Model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14195" y="732792"/>
            <a:ext cx="47332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(Ctrl-World)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072188" y="1243013"/>
            <a:ext cx="14288" cy="200025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786313" y="1485900"/>
            <a:ext cx="1100138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800600" y="1619845"/>
            <a:ext cx="45089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12632" y="1619845"/>
            <a:ext cx="62066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Rollouts</a:t>
            </a:r>
            <a:endParaRPr lang="en-US" sz="8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038" y="1700213"/>
            <a:ext cx="100013" cy="1143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257925" y="1485900"/>
            <a:ext cx="1100138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6414195" y="1674316"/>
            <a:ext cx="3589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DROID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773168" y="1674316"/>
            <a:ext cx="428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072188" y="2043113"/>
            <a:ext cx="14288" cy="200025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5350669" y="2286000"/>
            <a:ext cx="1457325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5364956" y="2462808"/>
            <a:ext cx="88663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Physically Grounded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251591" y="2462808"/>
            <a:ext cx="54211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World Model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086741" y="3000375"/>
            <a:ext cx="1985153" cy="339663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5086741" y="3000375"/>
            <a:ext cx="35719" cy="339663"/>
          </a:xfrm>
          <a:prstGeom prst="rect">
            <a:avLst/>
          </a:prstGeom>
          <a:solidFill>
            <a:srgbClr val="9900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5247475" y="3057525"/>
            <a:ext cx="3929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 = L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5640381" y="3123940"/>
            <a:ext cx="1160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756467" y="3181090"/>
            <a:ext cx="2178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aseline="-4000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real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5974352" y="3057525"/>
            <a:ext cx="3992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+ λ L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373592" y="3123940"/>
            <a:ext cx="1160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489678" y="3181090"/>
            <a:ext cx="42148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aseline="-40000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DROID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4729163" y="3411475"/>
            <a:ext cx="27003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通过联合优化目标函数，实现物理保真度与泛化能力的平衡。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技术细节：基于 VLM 的自动奖励模型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57225" y="1623613"/>
            <a:ext cx="2443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自动标注挑战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7225" y="1870072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大规模合成数据需要高效且准确的奖励标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57225" y="2062953"/>
            <a:ext cx="1671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注，以区分成功与失败轨迹。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7225" y="2323700"/>
            <a:ext cx="2443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Qwen3-VL 的应用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7225" y="2570159"/>
            <a:ext cx="24217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采用 4B 规模的视觉语言模型作为基础奖励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7225" y="2763041"/>
            <a:ext cx="19288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器，具备强大的多模态理解能力。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7225" y="3023788"/>
            <a:ext cx="2443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任务相关微调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7225" y="3270247"/>
            <a:ext cx="2403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利用首轮真实交互数据对 VLM 进行微调，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7225" y="3463128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显著提升其在特定机器人任务中的判断精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7225" y="3656009"/>
            <a:ext cx="257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度。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7225" y="3916756"/>
            <a:ext cx="2443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筛选机制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7225" y="4163216"/>
            <a:ext cx="2391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通过判定 token 'yes' 的概率是否超过阈值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7225" y="4356097"/>
            <a:ext cx="2177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α 来过滤数据，确保训练集的纯净度。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191" y="626864"/>
            <a:ext cx="208955" cy="1857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64844" y="555427"/>
            <a:ext cx="36576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输入轨迹视频 + 任务指令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64844" y="742950"/>
            <a:ext cx="36576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合成世界模型生成的动作序列视频。</a:t>
            </a:r>
            <a:endParaRPr lang="en-US" sz="7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823" y="1028700"/>
            <a:ext cx="125016" cy="142875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1414463"/>
            <a:ext cx="185738" cy="1857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64844" y="1343025"/>
            <a:ext cx="36576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微调后的 Qwen3-VL 评估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464844" y="1530548"/>
            <a:ext cx="36576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基于视觉特征判断指令完成情况。</a:t>
            </a:r>
            <a:endParaRPr lang="en-US" sz="7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823" y="1816298"/>
            <a:ext cx="125016" cy="142875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2202061"/>
            <a:ext cx="185738" cy="1857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64844" y="2130623"/>
            <a:ext cx="36576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二值奖励输出 (0 / 1)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464844" y="2318147"/>
            <a:ext cx="36576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仅保留成功轨迹用于策略优化。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5073988" y="2703909"/>
            <a:ext cx="2010687" cy="40005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2"/>
          <p:cNvSpPr/>
          <p:nvPr/>
        </p:nvSpPr>
        <p:spPr>
          <a:xfrm>
            <a:off x="5073988" y="2703909"/>
            <a:ext cx="2010687" cy="400050"/>
          </a:xfrm>
          <a:prstGeom prst="rect">
            <a:avLst/>
          </a:prstGeom>
          <a:noFill/>
          <a:ln/>
        </p:spPr>
        <p:txBody>
          <a:bodyPr wrap="square" lIns="119126" tIns="68072" rIns="119126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R(τ) = 1 [ P('yes' | τ, I) &gt; α ]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策略优化：适用于表达性策略的 AWR 更新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623613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Flow-matching 挑战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1890052"/>
            <a:ext cx="2309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现代 VLA 多采用 Flow-matching 目标，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095770"/>
            <a:ext cx="2057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其动作概率难以直接计算，导致传统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301487"/>
            <a:ext cx="15823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Policy Gradient 方法失效。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653652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优势加权回归 (AWR)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2920092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采用一种稳定的监督式学习更新目标，通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125809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过加权回归实现策略优化，无需显式计算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331527"/>
            <a:ext cx="642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动作似然。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683691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加权优化目标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3950131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对成功轨迹赋予正权重，对失败轨迹赋予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155849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零权重，在真实与合成数据上统一优化。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386138" y="628650"/>
            <a:ext cx="5386388" cy="135731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3529013" y="735806"/>
            <a:ext cx="126980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kern="0" spc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OBJECTIVE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353223" y="923330"/>
            <a:ext cx="47327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 = 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26496" y="981540"/>
            <a:ext cx="5500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26"/>
              </a:lnSpc>
              <a:buNone/>
            </a:pPr>
            <a:r>
              <a:rPr lang="en-US" sz="950" baseline="-40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(o,a)~D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76565" y="923330"/>
            <a:ext cx="28396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0529" y="923330"/>
            <a:ext cx="56792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50" dirty="0">
                <a:solidFill>
                  <a:srgbClr val="9900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w(o,a)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28457" y="923330"/>
            <a:ext cx="378619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· 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07076" y="981540"/>
            <a:ext cx="15716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26"/>
              </a:lnSpc>
              <a:buNone/>
            </a:pPr>
            <a:r>
              <a:rPr lang="en-US" sz="950" baseline="-400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764238" y="923330"/>
            <a:ext cx="104120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(θ; o, a) 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91683" y="1267262"/>
            <a:ext cx="23752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where w(o,a) = 1 if success, else 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386138" y="2200275"/>
            <a:ext cx="265033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正则化 RL 解释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386138" y="2444948"/>
            <a:ext cx="26503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该目标在数学上等价于在参考策略附近的约束优化，保证了策略更新的稳定性。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22194" y="2200275"/>
            <a:ext cx="265033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统一数据处理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22194" y="2444948"/>
            <a:ext cx="26503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 Rollout 与世界模型生成的合成数据在同一框架下进行加权训练，实现规模化扩展。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386138" y="2923580"/>
            <a:ext cx="265033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表达性策略兼容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386138" y="3168253"/>
            <a:ext cx="26503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完美适配 Diffusion 和 Flow-matching 等非似然基策略，保留了模型的高表达能力。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122194" y="2923580"/>
            <a:ext cx="265033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自动标注集成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22194" y="3168253"/>
            <a:ext cx="265033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权重 w(o,a) 由微调后的奖励模型自动生成，实现了端到端的自动化策略改进。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实验设置：真实机器人平台 DROID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21506" y="1637900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硬件环境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506" y="1904340"/>
            <a:ext cx="2277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采用 Franka Panda 机械臂配备 Robotiq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1506" y="2110057"/>
            <a:ext cx="7875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2F-85 夹爪。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506" y="2433647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视觉系统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506" y="2700086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包含两个第三视角摄像头和一个腕部安装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1506" y="2905804"/>
            <a:ext cx="19288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摄像头，提供多维度的交互观察。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506" y="3229394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数据规模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1506" y="3495833"/>
            <a:ext cx="2411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每类任务初始包含 25 条专家演示；每轮迭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1506" y="3701551"/>
            <a:ext cx="1639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代收集 50 条真实在线轨迹。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043238" y="0"/>
            <a:ext cx="6100763" cy="51435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328988" y="371475"/>
            <a:ext cx="2636044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63" y="505420"/>
            <a:ext cx="225028" cy="2000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1863" y="800100"/>
            <a:ext cx="23502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堆叠方块 (Stacking)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71863" y="1044773"/>
            <a:ext cx="23502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涉及频繁的刚体碰撞与精准对齐，考验接触动态建模。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079331" y="371475"/>
            <a:ext cx="2636044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206" y="505420"/>
            <a:ext cx="225028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22206" y="800100"/>
            <a:ext cx="23502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翻书 (Open Book)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22206" y="1044773"/>
            <a:ext cx="23502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涉及纸张等可变形物体的交互，传统模拟器难以准确仿真。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3328988" y="1485900"/>
            <a:ext cx="2636044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863" y="1619845"/>
            <a:ext cx="200025" cy="2000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71863" y="1914525"/>
            <a:ext cx="23502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擦除标记 (Erase Marks)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471863" y="2159198"/>
            <a:ext cx="23502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精细的表面交互任务，要求对摩擦力和接触面积有准确理解。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079331" y="1485900"/>
            <a:ext cx="2636044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206" y="1619845"/>
            <a:ext cx="200025" cy="2000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22206" y="1914525"/>
            <a:ext cx="23502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舀取零食 (Scooping)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6222206" y="2159198"/>
            <a:ext cx="23502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涉及颗粒状物体的动力学，是世界模型建模的巨大挑战。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3328988" y="2600325"/>
            <a:ext cx="2636044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863" y="2734270"/>
            <a:ext cx="200025" cy="2000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1863" y="3028950"/>
            <a:ext cx="23502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画圆 (Drawing)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471863" y="3273623"/>
            <a:ext cx="23502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长时域轨迹一致性任务，要求策略在长时间内保持稳定。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6079331" y="2600325"/>
            <a:ext cx="2636044" cy="1000125"/>
          </a:xfrm>
          <a:prstGeom prst="rect">
            <a:avLst/>
          </a:prstGeom>
          <a:solidFill>
            <a:srgbClr val="222222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7"/>
          <p:cNvSpPr/>
          <p:nvPr/>
        </p:nvSpPr>
        <p:spPr>
          <a:xfrm>
            <a:off x="7040166" y="2950369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大类别
挑战性任务</a:t>
            </a:r>
            <a:endParaRPr lang="en-US" sz="10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988" y="3871913"/>
            <a:ext cx="100013" cy="10001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429000" y="3862983"/>
            <a:ext cx="6286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真实环境部署</a:t>
            </a:r>
            <a:endParaRPr lang="en-US" sz="7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844" y="3871913"/>
            <a:ext cx="100013" cy="10001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707856" y="3862983"/>
            <a:ext cx="6286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接触密集交互</a:t>
            </a:r>
            <a:endParaRPr lang="en-US" sz="75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00" y="3871913"/>
            <a:ext cx="100013" cy="100013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986713" y="3862983"/>
            <a:ext cx="7286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可变形物体支持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实验结果：世界模型建模能力的提升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76648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定量指标显著改善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2032927"/>
            <a:ext cx="2185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在引入真实在线数据后，视频质量指标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238645"/>
            <a:ext cx="2407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（PSNR, SSIM）和分布指标（FID, FVD）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444362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均获得大幅提升。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839389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物理保真度验证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3105829"/>
            <a:ext cx="21752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Grounded 后的模型能准确预测失败场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311547"/>
            <a:ext cx="2418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景，有效减少了传统模型“过于乐观”的预测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517264"/>
            <a:ext cx="385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偏差。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912291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长时域稳定性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4178731"/>
            <a:ext cx="2307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支持长达 20 秒的策略闭环 rollout，在复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384449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杂交互中依然能保持物理逻辑的一致性。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3386138" y="485775"/>
            <a:ext cx="53863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视频质量指标对比 (Video Quality Metrics)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386138" y="864394"/>
            <a:ext cx="2343457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386138" y="864394"/>
            <a:ext cx="2343457" cy="237530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模型配置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729594" y="864394"/>
            <a:ext cx="853036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729594" y="864394"/>
            <a:ext cx="853036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PSNR ↑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582631" y="864394"/>
            <a:ext cx="817094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582631" y="864394"/>
            <a:ext cx="817094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SSIM ↑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99725" y="864394"/>
            <a:ext cx="643858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7399725" y="864394"/>
            <a:ext cx="643858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FID ↓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043583" y="864394"/>
            <a:ext cx="728942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043583" y="864394"/>
            <a:ext cx="728942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FVD ↓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386138" y="1101923"/>
            <a:ext cx="2343457" cy="217884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Ctrl-world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729594" y="1101923"/>
            <a:ext cx="853036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16.32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82631" y="1101923"/>
            <a:ext cx="817094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0.634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99725" y="1101923"/>
            <a:ext cx="643858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41.03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8043583" y="1101923"/>
            <a:ext cx="728942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225.13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386138" y="1319808"/>
            <a:ext cx="2343457" cy="221456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Expert Rollout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729594" y="1319808"/>
            <a:ext cx="853036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19.87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582631" y="1319808"/>
            <a:ext cx="817094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0.748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99725" y="1319808"/>
            <a:ext cx="64385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12.76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8043583" y="1319808"/>
            <a:ext cx="728942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99.98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386138" y="1541264"/>
            <a:ext cx="2343457" cy="225028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 Expert + Online Rollout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729594" y="1541264"/>
            <a:ext cx="853036" cy="225028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21.77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582631" y="1541264"/>
            <a:ext cx="817094" cy="225028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0.784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399725" y="1541264"/>
            <a:ext cx="643858" cy="225028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9.58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8043583" y="1541264"/>
            <a:ext cx="728942" cy="225028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64.12</a:t>
            </a:r>
            <a:endParaRPr lang="en-US" sz="7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8" y="2059186"/>
            <a:ext cx="5357813" cy="2143125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3386138" y="4273748"/>
            <a:ext cx="5386388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FVD 指标下降趋势 (越低代表视频分布越接近真实)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实验结果：VLA 策略性能的大幅跃升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76648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跨任务通用提升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2032927"/>
            <a:ext cx="23449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在所有 5 类挑战性任务中，VLAW 相比基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238645"/>
            <a:ext cx="2364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线（OpenVLA）实现了平均 2.5 倍的成功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444362"/>
            <a:ext cx="514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率提升。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87510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复杂交互优势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3141548"/>
            <a:ext cx="23895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在翻书（+180%）和擦除标记（+220%）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347265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等涉及精细物理反馈的任务中表现尤为突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552983"/>
            <a:ext cx="257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出。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983729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迭代增益显著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4250168"/>
            <a:ext cx="23663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仅需一轮迭代，策略即可从世界模型的“想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455886"/>
            <a:ext cx="2109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象”中学习到关键的避障与接触技巧。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8" y="628650"/>
            <a:ext cx="5386388" cy="2857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85295" y="3929063"/>
            <a:ext cx="96976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99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+150%</a:t>
            </a:r>
            <a:endParaRPr lang="en-US" sz="2450" dirty="0"/>
          </a:p>
        </p:txBody>
      </p:sp>
      <p:sp>
        <p:nvSpPr>
          <p:cNvPr id="18" name="Text 14"/>
          <p:cNvSpPr/>
          <p:nvPr/>
        </p:nvSpPr>
        <p:spPr>
          <a:xfrm>
            <a:off x="3785295" y="4386263"/>
            <a:ext cx="96976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平均成功率提升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553373" y="3929063"/>
            <a:ext cx="12715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99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2.5x</a:t>
            </a:r>
            <a:endParaRPr lang="en-US" sz="2450" dirty="0"/>
          </a:p>
        </p:txBody>
      </p:sp>
      <p:sp>
        <p:nvSpPr>
          <p:cNvPr id="20" name="Text 16"/>
          <p:cNvSpPr/>
          <p:nvPr/>
        </p:nvSpPr>
        <p:spPr>
          <a:xfrm>
            <a:off x="5553373" y="4386263"/>
            <a:ext cx="12715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性能倍率 (VS BASELINE)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7623274" y="3929063"/>
            <a:ext cx="7500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9900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5/5</a:t>
            </a:r>
            <a:endParaRPr lang="en-US" sz="2450" dirty="0"/>
          </a:p>
        </p:txBody>
      </p:sp>
      <p:sp>
        <p:nvSpPr>
          <p:cNvPr id="22" name="Text 18"/>
          <p:cNvSpPr/>
          <p:nvPr/>
        </p:nvSpPr>
        <p:spPr>
          <a:xfrm>
            <a:off x="7623274" y="4386263"/>
            <a:ext cx="75009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任务类别全覆盖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99222"/>
            <a:ext cx="261461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消融实验：真实数据与合成数据缺一不可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78656" y="1766488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物理对齐的必要性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8656" y="2032927"/>
            <a:ext cx="22985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移除在线数据微调（Grounding）会导致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78656" y="2238645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世界模型产生严重的物理幻觉，合成数据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78656" y="2444362"/>
            <a:ext cx="900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质量大幅下降。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78656" y="2839389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数据放大的规模效应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8656" y="3105829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仅使用真实在线数据而不进行合成数据放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78656" y="3311547"/>
            <a:ext cx="2314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大，策略的泛化能力和鲁棒性将受到极大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8656" y="3517264"/>
            <a:ext cx="385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限制。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78656" y="3912291"/>
            <a:ext cx="2421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奖励模型的关键作用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8656" y="4178731"/>
            <a:ext cx="2403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移除 VLM 奖励筛选会导致策略被错误的合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8656" y="4384449"/>
            <a:ext cx="2185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成轨迹误导，性能甚至可能低于基准模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8656" y="4590166"/>
            <a:ext cx="257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型。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00388" y="57150"/>
            <a:ext cx="6100763" cy="5143500"/>
          </a:xfrm>
          <a:prstGeom prst="rect">
            <a:avLst/>
          </a:prstGeom>
          <a:solidFill>
            <a:srgbClr val="FDFDF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386138" y="628650"/>
            <a:ext cx="1655090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386138" y="628650"/>
            <a:ext cx="1655090" cy="237530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配置方案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5041227" y="628650"/>
            <a:ext cx="966583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041227" y="628650"/>
            <a:ext cx="966583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物理对齐 (G)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007810" y="628650"/>
            <a:ext cx="953328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007810" y="628650"/>
            <a:ext cx="953328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数据放大 (S)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961138" y="628650"/>
            <a:ext cx="953328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961138" y="628650"/>
            <a:ext cx="953328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奖励筛选 (R)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7914466" y="628650"/>
            <a:ext cx="858059" cy="23753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914466" y="628650"/>
            <a:ext cx="858059" cy="237530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平均成功率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386138" y="866180"/>
            <a:ext cx="1655090" cy="217884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(Expert only)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041227" y="866180"/>
            <a:ext cx="966583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007810" y="866180"/>
            <a:ext cx="953328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961138" y="866180"/>
            <a:ext cx="953328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914466" y="866180"/>
            <a:ext cx="858059" cy="217884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386138" y="1084064"/>
            <a:ext cx="1655090" cy="221456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w/o Grounding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041227" y="1084064"/>
            <a:ext cx="966583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007810" y="1084064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961138" y="1084064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914466" y="1084064"/>
            <a:ext cx="858059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45.5%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386138" y="1305520"/>
            <a:ext cx="1655090" cy="221456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w/o Scaling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041227" y="1305520"/>
            <a:ext cx="966583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007810" y="1305520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6961138" y="1305520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7914466" y="1305520"/>
            <a:ext cx="858059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58.2%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3386138" y="1526977"/>
            <a:ext cx="5386388" cy="22145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3386138" y="1526977"/>
            <a:ext cx="1655090" cy="221456"/>
          </a:xfrm>
          <a:prstGeom prst="rect">
            <a:avLst/>
          </a:prstGeom>
          <a:noFill/>
          <a:ln/>
        </p:spPr>
        <p:txBody>
          <a:bodyPr wrap="squar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VLAW (Full)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41227" y="1526977"/>
            <a:ext cx="966583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007810" y="1526977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6961138" y="1526977"/>
            <a:ext cx="953328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914466" y="1526977"/>
            <a:ext cx="858059" cy="221456"/>
          </a:xfrm>
          <a:prstGeom prst="rect">
            <a:avLst/>
          </a:prstGeom>
          <a:noFill/>
          <a:ln/>
        </p:spPr>
        <p:txBody>
          <a:bodyPr wrap="none" lIns="85090" tIns="1021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84.6%</a:t>
            </a:r>
            <a:endParaRPr lang="en-US" sz="70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8" y="2037755"/>
            <a:ext cx="538638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4" y="5718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64856" y="0"/>
            <a:ext cx="7144" cy="51435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571500" y="820527"/>
            <a:ext cx="371475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总结：VLAW 的核心贡献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494885"/>
            <a:ext cx="3714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CONTRIBUTIONS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000625" y="571500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99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OUTLOOK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903684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885825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多模态反馈集成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00625" y="1150144"/>
            <a:ext cx="3571875" cy="36572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引入触觉、力觉等多维传感器数据，进一步提升世界模型的物理表征精度。</a:t>
            </a:r>
            <a:endParaRPr lang="en-US" sz="8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662317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644458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长时域任务规划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00625" y="1908777"/>
            <a:ext cx="3571875" cy="36572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探索将 VLAW 框架应用于更复杂的长序列任务，实现更高层级的逻辑推理与动作执行。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420950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0663" y="2403091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跨形态泛化能力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000625" y="2667409"/>
            <a:ext cx="3571875" cy="36572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研究如何将校准后的物理知识迁移至不同形态的机器人平台，实现通用机器人智能。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5000625" y="3204586"/>
            <a:ext cx="3571875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Empowering Robots with Physically Grounded Imagination.</a:t>
            </a:r>
            <a:endParaRPr 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5489970-7251-5A62-8759-58BCA346FB36}"/>
              </a:ext>
            </a:extLst>
          </p:cNvPr>
          <p:cNvSpPr txBox="1"/>
          <p:nvPr/>
        </p:nvSpPr>
        <p:spPr>
          <a:xfrm>
            <a:off x="662161" y="1816323"/>
            <a:ext cx="3466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迭代共提升框架</a:t>
            </a:r>
            <a:r>
              <a:rPr lang="zh-CN" altLang="en-US" sz="1000" dirty="0"/>
              <a:t>： 首次提出 VLA 策略与世界模型相互校准、共同进化的闭环优化范式。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081697-21FE-A0D8-6AD9-525E5C8ACE71}"/>
              </a:ext>
            </a:extLst>
          </p:cNvPr>
          <p:cNvSpPr txBox="1"/>
          <p:nvPr/>
        </p:nvSpPr>
        <p:spPr>
          <a:xfrm>
            <a:off x="662161" y="2371695"/>
            <a:ext cx="3474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物理对齐技术</a:t>
            </a:r>
            <a:r>
              <a:rPr lang="zh-CN" altLang="en-US" sz="1000" dirty="0"/>
              <a:t>： 通过少量在线交互数据，成功解决了扩散世界模型在复杂物理交互中的“乐观偏差”。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208235-C091-D95D-A2D7-E34B60EE0733}"/>
              </a:ext>
            </a:extLst>
          </p:cNvPr>
          <p:cNvSpPr txBox="1"/>
          <p:nvPr/>
        </p:nvSpPr>
        <p:spPr>
          <a:xfrm>
            <a:off x="662161" y="2927067"/>
            <a:ext cx="35740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可扩展的策略优化</a:t>
            </a:r>
            <a:r>
              <a:rPr lang="zh-CN" altLang="en-US" sz="1000" dirty="0"/>
              <a:t>： 引入 AWR 更新目标，实现了在非似然基策略（Flow-matching）上的大规模合成数据训练。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D5680E-1177-D648-C7E9-F510269D5B3C}"/>
              </a:ext>
            </a:extLst>
          </p:cNvPr>
          <p:cNvSpPr txBox="1"/>
          <p:nvPr/>
        </p:nvSpPr>
        <p:spPr>
          <a:xfrm>
            <a:off x="252956" y="3736795"/>
            <a:ext cx="4094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“只靠真实机器人数据太贵</a:t>
            </a:r>
            <a:r>
              <a:rPr lang="zh-CN" altLang="en-US" dirty="0"/>
              <a:t>，</a:t>
            </a:r>
            <a:r>
              <a:rPr lang="zh-CN" altLang="zh-CN" dirty="0"/>
              <a:t>但只靠模拟又不准所以正确方式是：真实数据 + 可修正的世界模型 + 循环优化”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868</Words>
  <Application>Microsoft Macintosh PowerPoint</Application>
  <PresentationFormat>全屏显示(16:9)</PresentationFormat>
  <Paragraphs>275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Inter</vt:lpstr>
      <vt:lpstr>Inter Bold</vt:lpstr>
      <vt:lpstr>Inter Light</vt:lpstr>
      <vt:lpstr>Arial</vt:lpstr>
      <vt:lpstr>Fira Code</vt:lpstr>
      <vt:lpstr>Playfair Display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Ruiyuan Ma</cp:lastModifiedBy>
  <cp:revision>11</cp:revision>
  <dcterms:created xsi:type="dcterms:W3CDTF">2026-06-23T09:54:29Z</dcterms:created>
  <dcterms:modified xsi:type="dcterms:W3CDTF">2026-09-04T06:02:06Z</dcterms:modified>
</cp:coreProperties>
</file>