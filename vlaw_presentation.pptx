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8" r:id="rId5"/>
    <p:sldId id="259" r:id="rId6"/>
    <p:sldId id="26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8"/>
    <p:restoredTop sz="94610"/>
  </p:normalViewPr>
  <p:slideViewPr>
    <p:cSldViewPr snapToGrid="0" snapToObjects="1">
      <p:cViewPr varScale="1">
        <p:scale>
          <a:sx n="154" d="100"/>
          <a:sy n="154" d="100"/>
        </p:scale>
        <p:origin x="464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18084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jpe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hyperlink" Target="https://github.com/Austin-152" TargetMode="External"/><Relationship Id="rId10" Type="http://schemas.openxmlformats.org/officeDocument/2006/relationships/image" Target="../media/image7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jpe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jpe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jpe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" y="183059"/>
            <a:ext cx="90297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9322" y="897266"/>
            <a:ext cx="2900586" cy="14896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2750" b="1" kern="0" spc="-1" dirty="0">
                <a:solidFill>
                  <a:srgbClr val="222222"/>
                </a:solidFill>
                <a:latin typeface="Playfair Display Black" pitchFamily="34" charset="0"/>
                <a:ea typeface="Playfair Display Black" pitchFamily="34" charset="-122"/>
                <a:cs typeface="Playfair Display Black" pitchFamily="34" charset="-120"/>
              </a:rPr>
              <a:t>VLAW: </a:t>
            </a:r>
          </a:p>
          <a:p>
            <a:pPr marL="0" indent="0" algn="l">
              <a:lnSpc>
                <a:spcPct val="88000"/>
              </a:lnSpc>
              <a:buNone/>
            </a:pPr>
            <a:r>
              <a:rPr lang="en-US" sz="2750" b="1" kern="0" spc="-1" dirty="0" err="1">
                <a:solidFill>
                  <a:srgbClr val="222222"/>
                </a:solidFill>
                <a:latin typeface="Playfair Display Black" pitchFamily="34" charset="0"/>
                <a:ea typeface="Playfair Display Black" pitchFamily="34" charset="-122"/>
                <a:cs typeface="Playfair Display Black" pitchFamily="34" charset="-120"/>
              </a:rPr>
              <a:t>视觉-语言-动作策略与世界模型的迭代共提升框架</a:t>
            </a:r>
            <a:endParaRPr lang="en-US" sz="2750" dirty="0"/>
          </a:p>
        </p:txBody>
      </p:sp>
      <p:sp>
        <p:nvSpPr>
          <p:cNvPr id="4" name="Text 1"/>
          <p:cNvSpPr/>
          <p:nvPr/>
        </p:nvSpPr>
        <p:spPr>
          <a:xfrm>
            <a:off x="485775" y="3041619"/>
            <a:ext cx="2900586" cy="48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基于世界模型迭代优化的 VLA 策略改进框架</a:t>
            </a:r>
            <a:endParaRPr lang="en-US" sz="12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" y="3977060"/>
            <a:ext cx="112514" cy="128588"/>
          </a:xfrm>
          <a:prstGeom prst="rect">
            <a:avLst/>
          </a:prstGeom>
        </p:spPr>
      </p:pic>
      <p:sp>
        <p:nvSpPr>
          <p:cNvPr id="6" name="Text 2">
            <a:hlinkClick r:id="rId5"/>
          </p:cNvPr>
          <p:cNvSpPr/>
          <p:nvPr/>
        </p:nvSpPr>
        <p:spPr>
          <a:xfrm>
            <a:off x="661429" y="3971343"/>
            <a:ext cx="365485" cy="14619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5"/>
              </a:rPr>
              <a:t>马睿远</a:t>
            </a:r>
            <a:endParaRPr lang="en-US" sz="9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5775" y="4286027"/>
            <a:ext cx="112514" cy="128588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98289" y="4273525"/>
            <a:ext cx="69115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2026年6月</a:t>
            </a:r>
            <a:endParaRPr lang="en-US" sz="950" dirty="0"/>
          </a:p>
        </p:txBody>
      </p:sp>
      <p:sp>
        <p:nvSpPr>
          <p:cNvPr id="9" name="Shape 4"/>
          <p:cNvSpPr/>
          <p:nvPr/>
        </p:nvSpPr>
        <p:spPr>
          <a:xfrm>
            <a:off x="3386361" y="57150"/>
            <a:ext cx="5814789" cy="514350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5"/>
          <p:cNvSpPr/>
          <p:nvPr/>
        </p:nvSpPr>
        <p:spPr>
          <a:xfrm>
            <a:off x="5043599" y="1378744"/>
            <a:ext cx="2500313" cy="2500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4150" b="1" dirty="0">
                <a:solidFill>
                  <a:srgbClr val="990000"/>
                </a:solidFill>
                <a:latin typeface="Playfair Display Black" pitchFamily="34" charset="0"/>
                <a:ea typeface="Playfair Display Black" pitchFamily="34" charset="-122"/>
                <a:cs typeface="Playfair Display Black" pitchFamily="34" charset="-120"/>
              </a:rPr>
              <a:t>VLAW</a:t>
            </a:r>
            <a:endParaRPr lang="en-US" sz="4150" dirty="0"/>
          </a:p>
        </p:txBody>
      </p:sp>
      <p:sp>
        <p:nvSpPr>
          <p:cNvPr id="11" name="Shape 6"/>
          <p:cNvSpPr/>
          <p:nvPr/>
        </p:nvSpPr>
        <p:spPr>
          <a:xfrm>
            <a:off x="6047296" y="985838"/>
            <a:ext cx="492919" cy="483989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33021" y="1096566"/>
            <a:ext cx="321469" cy="257175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6079443" y="3787973"/>
            <a:ext cx="428625" cy="483989"/>
          </a:xfrm>
          <a:prstGeom prst="round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65168" y="3898702"/>
            <a:ext cx="257175" cy="257175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4650693" y="2386905"/>
            <a:ext cx="460772" cy="483989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36418" y="2497634"/>
            <a:ext cx="289322" cy="257175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7508193" y="2386905"/>
            <a:ext cx="428625" cy="483989"/>
          </a:xfrm>
          <a:prstGeom prst="round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93918" y="2497634"/>
            <a:ext cx="257175" cy="2571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" y="57150"/>
            <a:ext cx="90297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5775" y="699222"/>
            <a:ext cx="2614613" cy="617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800" b="1" dirty="0">
                <a:solidFill>
                  <a:srgbClr val="222222"/>
                </a:solidFill>
                <a:latin typeface="Playfair Display Black" pitchFamily="34" charset="0"/>
                <a:ea typeface="Playfair Display Black" pitchFamily="34" charset="-122"/>
                <a:cs typeface="Playfair Display Black" pitchFamily="34" charset="-120"/>
              </a:rPr>
              <a:t>研究背景：VLA 策略在真实世界中的挑战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78656" y="1766488"/>
            <a:ext cx="2421731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大规模训练后的局限性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78656" y="2032927"/>
            <a:ext cx="2244923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虽然 VLA 模型在海量演示数据上表现优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78656" y="2238645"/>
            <a:ext cx="231457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异，但在特定下游任务中的可靠性仍需通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678656" y="2444362"/>
            <a:ext cx="1414463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过在线交互进一步提升。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78656" y="2875108"/>
            <a:ext cx="2421731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在线数据采集的高昂成本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78656" y="3141548"/>
            <a:ext cx="231457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真实世界机器人交互极其耗时，涉及环境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78656" y="3347265"/>
            <a:ext cx="231457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重置和人工监控，采集成本比模拟器高出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8656" y="3552983"/>
            <a:ext cx="77152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数个数量级。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78656" y="3983729"/>
            <a:ext cx="2421731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现有世界模型保真度不足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78656" y="4250168"/>
            <a:ext cx="231457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传统动作条件视频模型缺乏物理保真度，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78656" y="4455886"/>
            <a:ext cx="231457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难以准确建模接触密集型操作和可变形物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678656" y="4661604"/>
            <a:ext cx="25717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体。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100388" y="57150"/>
            <a:ext cx="6100763" cy="5143500"/>
          </a:xfrm>
          <a:prstGeom prst="rect">
            <a:avLst/>
          </a:prstGeom>
          <a:solidFill>
            <a:srgbClr val="FDFDFD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6138" y="771525"/>
            <a:ext cx="5357813" cy="28575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386138" y="3771900"/>
            <a:ext cx="5386388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数据采集成本与可扩展性对比 (示意图)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642072"/>
            <a:ext cx="2614613" cy="925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800" b="1" dirty="0">
                <a:solidFill>
                  <a:srgbClr val="222222"/>
                </a:solidFill>
                <a:latin typeface="Playfair Display Black" pitchFamily="34" charset="0"/>
                <a:ea typeface="Playfair Display Black" pitchFamily="34" charset="-122"/>
                <a:cs typeface="Playfair Display Black" pitchFamily="34" charset="-120"/>
              </a:rPr>
              <a:t>核心动机：为何现有世界模型难以用于策略改进？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0075" y="1875067"/>
            <a:ext cx="2443163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数据覆盖不平衡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00075" y="2141506"/>
            <a:ext cx="2443163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现有世界模型主要训练于专家演示数据，缺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00075" y="2347224"/>
            <a:ext cx="239315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乏对“失败案例”和“边缘交互场景”的建模。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600075" y="2670814"/>
            <a:ext cx="2443163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物理建模缺陷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00075" y="2937253"/>
            <a:ext cx="2443163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在涉及碰撞或可变形物体的任务中，预测往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600075" y="3142971"/>
            <a:ext cx="2443163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往过于乐观（认为总会成功）或细节模糊。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00075" y="3466560"/>
            <a:ext cx="2443163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保真度瓶颈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00075" y="3733000"/>
            <a:ext cx="2443163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缺乏精细的物理反馈导致合成数据无法提供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00075" y="3938718"/>
            <a:ext cx="128587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有效的策略优化信号。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043238" y="0"/>
            <a:ext cx="6100763" cy="5143500"/>
          </a:xfrm>
          <a:prstGeom prst="rect">
            <a:avLst/>
          </a:prstGeom>
          <a:solidFill>
            <a:srgbClr val="FDFDFD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2703" y="428625"/>
            <a:ext cx="385763" cy="51435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746897" y="1028700"/>
            <a:ext cx="1857375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过于乐观 (Optimistic)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3746897" y="1293019"/>
            <a:ext cx="1857375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66666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忽略物理碰撞与交互失败，预测轨迹始终趋向成功。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6440091" y="1026914"/>
            <a:ext cx="1857375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细节模糊 (Blurry)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440091" y="1291233"/>
            <a:ext cx="1857375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66666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无法准确还原接触点、夹爪压力及可变形物体的状态。</a:t>
            </a:r>
            <a:endParaRPr lang="en-US" sz="850" dirty="0"/>
          </a:p>
        </p:txBody>
      </p:sp>
      <p:sp>
        <p:nvSpPr>
          <p:cNvPr id="19" name="Text 15"/>
          <p:cNvSpPr/>
          <p:nvPr/>
        </p:nvSpPr>
        <p:spPr>
          <a:xfrm>
            <a:off x="3867615" y="1835944"/>
            <a:ext cx="4309104" cy="553641"/>
          </a:xfrm>
          <a:prstGeom prst="rect">
            <a:avLst/>
          </a:prstGeom>
          <a:noFill/>
          <a:ln/>
        </p:spPr>
        <p:txBody>
          <a:bodyPr wrap="square" lIns="0" tIns="102108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2222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"我们需要让世界模型通过少量真实交互，学会真正的物理规律。"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7C98A213-5994-475E-B327-DC6EC27FB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FFE9BD0-61FD-9A12-A30F-D37F92B09CAE}"/>
              </a:ext>
            </a:extLst>
          </p:cNvPr>
          <p:cNvSpPr txBox="1"/>
          <p:nvPr/>
        </p:nvSpPr>
        <p:spPr>
          <a:xfrm>
            <a:off x="479160" y="502663"/>
            <a:ext cx="8182230" cy="7993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zh-CN" altLang="en-US" sz="5000" dirty="0">
                <a:latin typeface="+mj-lt"/>
                <a:ea typeface="+mj-ea"/>
                <a:cs typeface="+mj-cs"/>
              </a:rPr>
              <a:t>创新点</a:t>
            </a:r>
            <a:endParaRPr lang="en-US" altLang="zh-CN" sz="5000" dirty="0">
              <a:latin typeface="+mj-lt"/>
              <a:ea typeface="+mj-ea"/>
              <a:cs typeface="+mj-cs"/>
            </a:endParaRP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4B030A0D-0DAD-4A99-89BB-419527D6A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542032" y="1350066"/>
            <a:ext cx="4057650" cy="13716"/>
          </a:xfrm>
          <a:custGeom>
            <a:avLst/>
            <a:gdLst>
              <a:gd name="csX0" fmla="*/ 0 w 4057650"/>
              <a:gd name="csY0" fmla="*/ 0 h 13716"/>
              <a:gd name="csX1" fmla="*/ 757428 w 4057650"/>
              <a:gd name="csY1" fmla="*/ 0 h 13716"/>
              <a:gd name="csX2" fmla="*/ 1474279 w 4057650"/>
              <a:gd name="csY2" fmla="*/ 0 h 13716"/>
              <a:gd name="csX3" fmla="*/ 2191131 w 4057650"/>
              <a:gd name="csY3" fmla="*/ 0 h 13716"/>
              <a:gd name="csX4" fmla="*/ 2745676 w 4057650"/>
              <a:gd name="csY4" fmla="*/ 0 h 13716"/>
              <a:gd name="csX5" fmla="*/ 3340798 w 4057650"/>
              <a:gd name="csY5" fmla="*/ 0 h 13716"/>
              <a:gd name="csX6" fmla="*/ 4057650 w 4057650"/>
              <a:gd name="csY6" fmla="*/ 0 h 13716"/>
              <a:gd name="csX7" fmla="*/ 4057650 w 4057650"/>
              <a:gd name="csY7" fmla="*/ 13716 h 13716"/>
              <a:gd name="csX8" fmla="*/ 3381375 w 4057650"/>
              <a:gd name="csY8" fmla="*/ 13716 h 13716"/>
              <a:gd name="csX9" fmla="*/ 2826830 w 4057650"/>
              <a:gd name="csY9" fmla="*/ 13716 h 13716"/>
              <a:gd name="csX10" fmla="*/ 2272284 w 4057650"/>
              <a:gd name="csY10" fmla="*/ 13716 h 13716"/>
              <a:gd name="csX11" fmla="*/ 1555432 w 4057650"/>
              <a:gd name="csY11" fmla="*/ 13716 h 13716"/>
              <a:gd name="csX12" fmla="*/ 960310 w 4057650"/>
              <a:gd name="csY12" fmla="*/ 13716 h 13716"/>
              <a:gd name="csX13" fmla="*/ 0 w 4057650"/>
              <a:gd name="csY13" fmla="*/ 13716 h 13716"/>
              <a:gd name="csX14" fmla="*/ 0 w 4057650"/>
              <a:gd name="csY14" fmla="*/ 0 h 137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4057650" h="13716" fill="none" extrusionOk="0">
                <a:moveTo>
                  <a:pt x="0" y="0"/>
                </a:moveTo>
                <a:cubicBezTo>
                  <a:pt x="371182" y="3227"/>
                  <a:pt x="494372" y="9222"/>
                  <a:pt x="757428" y="0"/>
                </a:cubicBezTo>
                <a:cubicBezTo>
                  <a:pt x="1020484" y="-9222"/>
                  <a:pt x="1116719" y="-4357"/>
                  <a:pt x="1474279" y="0"/>
                </a:cubicBezTo>
                <a:cubicBezTo>
                  <a:pt x="1831839" y="4357"/>
                  <a:pt x="1920973" y="-11809"/>
                  <a:pt x="2191131" y="0"/>
                </a:cubicBezTo>
                <a:cubicBezTo>
                  <a:pt x="2461289" y="11809"/>
                  <a:pt x="2589480" y="-22604"/>
                  <a:pt x="2745676" y="0"/>
                </a:cubicBezTo>
                <a:cubicBezTo>
                  <a:pt x="2901872" y="22604"/>
                  <a:pt x="3136452" y="-12306"/>
                  <a:pt x="3340798" y="0"/>
                </a:cubicBezTo>
                <a:cubicBezTo>
                  <a:pt x="3545144" y="12306"/>
                  <a:pt x="3766934" y="-21556"/>
                  <a:pt x="4057650" y="0"/>
                </a:cubicBezTo>
                <a:cubicBezTo>
                  <a:pt x="4057378" y="4708"/>
                  <a:pt x="4057987" y="7132"/>
                  <a:pt x="4057650" y="13716"/>
                </a:cubicBezTo>
                <a:cubicBezTo>
                  <a:pt x="3743404" y="35553"/>
                  <a:pt x="3625516" y="-19495"/>
                  <a:pt x="3381375" y="13716"/>
                </a:cubicBezTo>
                <a:cubicBezTo>
                  <a:pt x="3137235" y="46927"/>
                  <a:pt x="2946571" y="-4571"/>
                  <a:pt x="2826830" y="13716"/>
                </a:cubicBezTo>
                <a:cubicBezTo>
                  <a:pt x="2707090" y="32003"/>
                  <a:pt x="2402756" y="-3140"/>
                  <a:pt x="2272284" y="13716"/>
                </a:cubicBezTo>
                <a:cubicBezTo>
                  <a:pt x="2141812" y="30572"/>
                  <a:pt x="1895935" y="13627"/>
                  <a:pt x="1555432" y="13716"/>
                </a:cubicBezTo>
                <a:cubicBezTo>
                  <a:pt x="1214929" y="13805"/>
                  <a:pt x="1103072" y="9931"/>
                  <a:pt x="960310" y="13716"/>
                </a:cubicBezTo>
                <a:cubicBezTo>
                  <a:pt x="817548" y="17501"/>
                  <a:pt x="402272" y="-33931"/>
                  <a:pt x="0" y="13716"/>
                </a:cubicBezTo>
                <a:cubicBezTo>
                  <a:pt x="-460" y="10837"/>
                  <a:pt x="38" y="6680"/>
                  <a:pt x="0" y="0"/>
                </a:cubicBezTo>
                <a:close/>
              </a:path>
              <a:path w="4057650" h="13716" stroke="0" extrusionOk="0">
                <a:moveTo>
                  <a:pt x="0" y="0"/>
                </a:moveTo>
                <a:cubicBezTo>
                  <a:pt x="248348" y="13145"/>
                  <a:pt x="486117" y="25042"/>
                  <a:pt x="635698" y="0"/>
                </a:cubicBezTo>
                <a:cubicBezTo>
                  <a:pt x="785279" y="-25042"/>
                  <a:pt x="917762" y="-5537"/>
                  <a:pt x="1190244" y="0"/>
                </a:cubicBezTo>
                <a:cubicBezTo>
                  <a:pt x="1462726" y="5537"/>
                  <a:pt x="1667120" y="-21232"/>
                  <a:pt x="1947672" y="0"/>
                </a:cubicBezTo>
                <a:cubicBezTo>
                  <a:pt x="2228224" y="21232"/>
                  <a:pt x="2280631" y="-21698"/>
                  <a:pt x="2583370" y="0"/>
                </a:cubicBezTo>
                <a:cubicBezTo>
                  <a:pt x="2886109" y="21698"/>
                  <a:pt x="3022941" y="19647"/>
                  <a:pt x="3219069" y="0"/>
                </a:cubicBezTo>
                <a:cubicBezTo>
                  <a:pt x="3415197" y="-19647"/>
                  <a:pt x="3747500" y="26991"/>
                  <a:pt x="4057650" y="0"/>
                </a:cubicBezTo>
                <a:cubicBezTo>
                  <a:pt x="4056980" y="3019"/>
                  <a:pt x="4057134" y="10425"/>
                  <a:pt x="4057650" y="13716"/>
                </a:cubicBezTo>
                <a:cubicBezTo>
                  <a:pt x="3865148" y="-7885"/>
                  <a:pt x="3702543" y="44896"/>
                  <a:pt x="3381375" y="13716"/>
                </a:cubicBezTo>
                <a:cubicBezTo>
                  <a:pt x="3060208" y="-17464"/>
                  <a:pt x="2956571" y="-13250"/>
                  <a:pt x="2826830" y="13716"/>
                </a:cubicBezTo>
                <a:cubicBezTo>
                  <a:pt x="2697089" y="40682"/>
                  <a:pt x="2411031" y="38582"/>
                  <a:pt x="2150555" y="13716"/>
                </a:cubicBezTo>
                <a:cubicBezTo>
                  <a:pt x="1890080" y="-11150"/>
                  <a:pt x="1741827" y="-5187"/>
                  <a:pt x="1474280" y="13716"/>
                </a:cubicBezTo>
                <a:cubicBezTo>
                  <a:pt x="1206734" y="32619"/>
                  <a:pt x="998203" y="28763"/>
                  <a:pt x="838581" y="13716"/>
                </a:cubicBezTo>
                <a:cubicBezTo>
                  <a:pt x="678959" y="-1331"/>
                  <a:pt x="187101" y="-17784"/>
                  <a:pt x="0" y="13716"/>
                </a:cubicBezTo>
                <a:cubicBezTo>
                  <a:pt x="-114" y="7033"/>
                  <a:pt x="103" y="342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5CFA274-14B4-B424-A8A2-1F33D6EC45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137" y="1964838"/>
            <a:ext cx="2369276" cy="270003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600824F7-8A7C-7742-89C7-662A00E093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2681" y="2138072"/>
            <a:ext cx="2818638" cy="235356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60F8B76-B86A-9C88-DDAE-D43BC2A637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5906" y="2138072"/>
            <a:ext cx="2818638" cy="2353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5404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642072"/>
            <a:ext cx="2614613" cy="617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800" b="1" dirty="0">
                <a:solidFill>
                  <a:srgbClr val="222222"/>
                </a:solidFill>
                <a:latin typeface="Playfair Display Black" pitchFamily="34" charset="0"/>
                <a:ea typeface="Playfair Display Black" pitchFamily="34" charset="-122"/>
                <a:cs typeface="Playfair Display Black" pitchFamily="34" charset="-120"/>
              </a:rPr>
              <a:t>VLAW 核心思想：迭代共提升框架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21506" y="1595038"/>
            <a:ext cx="2421731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双向协同逻辑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21506" y="1861477"/>
            <a:ext cx="154305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利用真实数据校准世界模型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21506" y="2067195"/>
            <a:ext cx="236279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（Grounding），再利用校准后的世界模型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621506" y="2272912"/>
            <a:ext cx="1532334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放大数据规模（Scaling）。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21506" y="2567927"/>
            <a:ext cx="2421731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迭代闭环演进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21506" y="2834367"/>
            <a:ext cx="231457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策略与世界模型在交互中共同进化，形成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21506" y="3040084"/>
            <a:ext cx="176450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“真实-想象-优化”的良性循环。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043238" y="0"/>
            <a:ext cx="6100763" cy="514350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9"/>
          <p:cNvSpPr/>
          <p:nvPr/>
        </p:nvSpPr>
        <p:spPr>
          <a:xfrm>
            <a:off x="3328988" y="357188"/>
            <a:ext cx="2628900" cy="1243013"/>
          </a:xfrm>
          <a:prstGeom prst="rect">
            <a:avLst/>
          </a:prstGeom>
          <a:solidFill>
            <a:srgbClr val="FFFFFF"/>
          </a:solidFill>
          <a:ln w="18288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0"/>
          <p:cNvSpPr/>
          <p:nvPr/>
        </p:nvSpPr>
        <p:spPr>
          <a:xfrm>
            <a:off x="3471863" y="271463"/>
            <a:ext cx="214313" cy="214313"/>
          </a:xfrm>
          <a:prstGeom prst="rect">
            <a:avLst/>
          </a:prstGeom>
          <a:solidFill>
            <a:srgbClr val="9900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1"/>
          <p:cNvSpPr/>
          <p:nvPr/>
        </p:nvSpPr>
        <p:spPr>
          <a:xfrm>
            <a:off x="3471863" y="271463"/>
            <a:ext cx="214313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90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2703" y="500063"/>
            <a:ext cx="321469" cy="28575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471863" y="871538"/>
            <a:ext cx="2343150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真实世界交互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3471863" y="1116211"/>
            <a:ext cx="2343150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利用当前策略收集少量包含成功与失败的在线轨迹。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6086475" y="357188"/>
            <a:ext cx="2628900" cy="1243013"/>
          </a:xfrm>
          <a:prstGeom prst="rect">
            <a:avLst/>
          </a:prstGeom>
          <a:solidFill>
            <a:srgbClr val="FFFFFF"/>
          </a:solidFill>
          <a:ln w="18288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5"/>
          <p:cNvSpPr/>
          <p:nvPr/>
        </p:nvSpPr>
        <p:spPr>
          <a:xfrm>
            <a:off x="6229350" y="271463"/>
            <a:ext cx="214313" cy="214313"/>
          </a:xfrm>
          <a:prstGeom prst="rect">
            <a:avLst/>
          </a:prstGeom>
          <a:solidFill>
            <a:srgbClr val="9900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6"/>
          <p:cNvSpPr/>
          <p:nvPr/>
        </p:nvSpPr>
        <p:spPr>
          <a:xfrm>
            <a:off x="6229350" y="271463"/>
            <a:ext cx="214313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90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8050" y="500063"/>
            <a:ext cx="285750" cy="28575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229350" y="871538"/>
            <a:ext cx="2343150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世界模型校准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6229350" y="1116211"/>
            <a:ext cx="2343150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在真实轨迹上微调世界模型，使其对齐物理规律。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3328988" y="1700213"/>
            <a:ext cx="2628900" cy="1243013"/>
          </a:xfrm>
          <a:prstGeom prst="rect">
            <a:avLst/>
          </a:prstGeom>
          <a:solidFill>
            <a:srgbClr val="FFFFFF"/>
          </a:solidFill>
          <a:ln w="18288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Shape 20"/>
          <p:cNvSpPr/>
          <p:nvPr/>
        </p:nvSpPr>
        <p:spPr>
          <a:xfrm>
            <a:off x="3471863" y="1614488"/>
            <a:ext cx="214313" cy="214313"/>
          </a:xfrm>
          <a:prstGeom prst="rect">
            <a:avLst/>
          </a:prstGeom>
          <a:solidFill>
            <a:srgbClr val="9900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1"/>
          <p:cNvSpPr/>
          <p:nvPr/>
        </p:nvSpPr>
        <p:spPr>
          <a:xfrm>
            <a:off x="3471863" y="1614488"/>
            <a:ext cx="214313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900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4844" y="1843088"/>
            <a:ext cx="357188" cy="28575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3471863" y="2214563"/>
            <a:ext cx="2343150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想象中生成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3471863" y="2459236"/>
            <a:ext cx="2343150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利用校准后的模型大规模并行生成高质量合成数据。</a:t>
            </a:r>
            <a:endParaRPr lang="en-US" sz="750" dirty="0"/>
          </a:p>
        </p:txBody>
      </p:sp>
      <p:sp>
        <p:nvSpPr>
          <p:cNvPr id="30" name="Shape 24"/>
          <p:cNvSpPr/>
          <p:nvPr/>
        </p:nvSpPr>
        <p:spPr>
          <a:xfrm>
            <a:off x="6086475" y="1700213"/>
            <a:ext cx="2628900" cy="1243013"/>
          </a:xfrm>
          <a:prstGeom prst="rect">
            <a:avLst/>
          </a:prstGeom>
          <a:solidFill>
            <a:srgbClr val="FFFFFF"/>
          </a:solidFill>
          <a:ln w="18288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Shape 25"/>
          <p:cNvSpPr/>
          <p:nvPr/>
        </p:nvSpPr>
        <p:spPr>
          <a:xfrm>
            <a:off x="6229350" y="1614488"/>
            <a:ext cx="214313" cy="214313"/>
          </a:xfrm>
          <a:prstGeom prst="rect">
            <a:avLst/>
          </a:prstGeom>
          <a:solidFill>
            <a:srgbClr val="9900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Text 26"/>
          <p:cNvSpPr/>
          <p:nvPr/>
        </p:nvSpPr>
        <p:spPr>
          <a:xfrm>
            <a:off x="6229350" y="1614488"/>
            <a:ext cx="214313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</a:t>
            </a:r>
            <a:endParaRPr lang="en-US" sz="900" dirty="0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58050" y="1843088"/>
            <a:ext cx="285750" cy="28575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6229350" y="2214563"/>
            <a:ext cx="2343150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策略更新</a:t>
            </a:r>
            <a:endParaRPr lang="en-US" sz="900" dirty="0"/>
          </a:p>
        </p:txBody>
      </p:sp>
      <p:sp>
        <p:nvSpPr>
          <p:cNvPr id="35" name="Text 28"/>
          <p:cNvSpPr/>
          <p:nvPr/>
        </p:nvSpPr>
        <p:spPr>
          <a:xfrm>
            <a:off x="6229350" y="2459236"/>
            <a:ext cx="2343150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结合真实与合成数据，通过加权回归更新 VLA 策略。</a:t>
            </a:r>
            <a:endParaRPr lang="en-US" sz="750" dirty="0"/>
          </a:p>
        </p:txBody>
      </p:sp>
      <p:sp>
        <p:nvSpPr>
          <p:cNvPr id="36" name="Text 29"/>
          <p:cNvSpPr/>
          <p:nvPr/>
        </p:nvSpPr>
        <p:spPr>
          <a:xfrm>
            <a:off x="3434358" y="3043238"/>
            <a:ext cx="5175647" cy="394692"/>
          </a:xfrm>
          <a:prstGeom prst="rect">
            <a:avLst/>
          </a:prstGeom>
          <a:noFill/>
          <a:ln/>
        </p:spPr>
        <p:txBody>
          <a:bodyPr wrap="square" lIns="255143" tIns="85090" rIns="255143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990000"/>
                </a:solidFill>
                <a:latin typeface="Playfair Display Black" pitchFamily="34" charset="0"/>
                <a:ea typeface="Playfair Display Black" pitchFamily="34" charset="-122"/>
                <a:cs typeface="Playfair Display Black" pitchFamily="34" charset="-120"/>
              </a:rPr>
              <a:t>POLICY &amp; WORLD MODEL CO-IMPROVEMENT</a:t>
            </a:r>
            <a:endParaRPr lang="en-US" sz="1400" dirty="0"/>
          </a:p>
        </p:txBody>
      </p:sp>
      <p:pic>
        <p:nvPicPr>
          <p:cNvPr id="37" name="图片 36">
            <a:extLst>
              <a:ext uri="{FF2B5EF4-FFF2-40B4-BE49-F238E27FC236}">
                <a16:creationId xmlns:a16="http://schemas.microsoft.com/office/drawing/2014/main" id="{F7EDB4D7-4CC0-E031-D921-C1C998EAD14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995" y="3249587"/>
            <a:ext cx="1461671" cy="183978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282117" y="-190252"/>
            <a:ext cx="1370728" cy="1032741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68730" y="316609"/>
            <a:ext cx="484026" cy="484026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7532611" y="491355"/>
            <a:ext cx="515604" cy="515604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7017482" y="0"/>
            <a:ext cx="2126518" cy="111062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982258" y="4586625"/>
            <a:ext cx="1120884" cy="556875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DC0531D1-DF59-6485-0F7E-A41928F55A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251" y="164443"/>
            <a:ext cx="5149320" cy="4814614"/>
          </a:xfrm>
          <a:prstGeom prst="rect">
            <a:avLst/>
          </a:prstGeom>
          <a:ln>
            <a:noFill/>
          </a:ln>
        </p:spPr>
      </p:pic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703060" y="4839857"/>
            <a:ext cx="611177" cy="303643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9113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" y="57150"/>
            <a:ext cx="90297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5775" y="699222"/>
            <a:ext cx="2614613" cy="617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800" b="1" dirty="0">
                <a:solidFill>
                  <a:srgbClr val="222222"/>
                </a:solidFill>
                <a:latin typeface="Playfair Display Black" pitchFamily="34" charset="0"/>
                <a:ea typeface="Playfair Display Black" pitchFamily="34" charset="-122"/>
                <a:cs typeface="Playfair Display Black" pitchFamily="34" charset="-120"/>
              </a:rPr>
              <a:t>技术细节：世界模型的物理对齐 (Grounding)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78656" y="1623613"/>
            <a:ext cx="2421731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基于 Ctrl-World 的微调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78656" y="1890052"/>
            <a:ext cx="218598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以预训练的动作条件扩散视频模型为基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78656" y="2095770"/>
            <a:ext cx="231457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础，在包含成功与失败案例的真实在线轨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678656" y="2301487"/>
            <a:ext cx="115728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迹上进行继续训练。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78656" y="2610789"/>
            <a:ext cx="2421731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建模能力的跃迁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78656" y="2877229"/>
            <a:ext cx="231457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通过微调，世界模型能够学习到任务相关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78656" y="3082947"/>
            <a:ext cx="231457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的接触动态、复杂物理交互以及失败模式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8656" y="3288664"/>
            <a:ext cx="77152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的视觉表征。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78656" y="3597966"/>
            <a:ext cx="2421731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正则化协同训练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78656" y="3864406"/>
            <a:ext cx="24003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引入大规模 DROID 数据集进行协同训练，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78656" y="4070124"/>
            <a:ext cx="218598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防止模型在有限的在线数据上产生过拟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678656" y="4275841"/>
            <a:ext cx="25717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合。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100388" y="57150"/>
            <a:ext cx="6100763" cy="5143500"/>
          </a:xfrm>
          <a:prstGeom prst="rect">
            <a:avLst/>
          </a:prstGeom>
          <a:solidFill>
            <a:srgbClr val="FDFDF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4"/>
          <p:cNvSpPr/>
          <p:nvPr/>
        </p:nvSpPr>
        <p:spPr>
          <a:xfrm>
            <a:off x="5350669" y="571500"/>
            <a:ext cx="1457325" cy="657225"/>
          </a:xfrm>
          <a:prstGeom prst="rect">
            <a:avLst/>
          </a:prstGeom>
          <a:solidFill>
            <a:srgbClr val="FFFFFF"/>
          </a:solidFill>
          <a:ln w="18288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5"/>
          <p:cNvSpPr/>
          <p:nvPr/>
        </p:nvSpPr>
        <p:spPr>
          <a:xfrm>
            <a:off x="5364956" y="748308"/>
            <a:ext cx="955421" cy="2750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Pre-trained World Model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6414195" y="732792"/>
            <a:ext cx="473329" cy="2750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(Ctrl-World)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6072188" y="1243013"/>
            <a:ext cx="14288" cy="200025"/>
          </a:xfrm>
          <a:prstGeom prst="rect">
            <a:avLst/>
          </a:prstGeom>
          <a:solidFill>
            <a:srgbClr val="9900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8"/>
          <p:cNvSpPr/>
          <p:nvPr/>
        </p:nvSpPr>
        <p:spPr>
          <a:xfrm>
            <a:off x="4786313" y="1485900"/>
            <a:ext cx="1100138" cy="542925"/>
          </a:xfrm>
          <a:prstGeom prst="rect">
            <a:avLst/>
          </a:prstGeom>
          <a:solidFill>
            <a:srgbClr val="FFFFFF"/>
          </a:solidFill>
          <a:ln w="18288">
            <a:solidFill>
              <a:srgbClr val="99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19"/>
          <p:cNvSpPr/>
          <p:nvPr/>
        </p:nvSpPr>
        <p:spPr>
          <a:xfrm>
            <a:off x="4800600" y="1619845"/>
            <a:ext cx="450893" cy="2750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99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Real-world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5312632" y="1619845"/>
            <a:ext cx="620669" cy="2750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99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Online Rollouts</a:t>
            </a:r>
            <a:endParaRPr lang="en-US" sz="800" dirty="0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5038" y="1700213"/>
            <a:ext cx="100013" cy="11430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6257925" y="1485900"/>
            <a:ext cx="1100138" cy="542925"/>
          </a:xfrm>
          <a:prstGeom prst="rect">
            <a:avLst/>
          </a:prstGeom>
          <a:solidFill>
            <a:srgbClr val="FFFFFF"/>
          </a:solidFill>
          <a:ln w="18288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2"/>
          <p:cNvSpPr/>
          <p:nvPr/>
        </p:nvSpPr>
        <p:spPr>
          <a:xfrm>
            <a:off x="6414195" y="1674316"/>
            <a:ext cx="358973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DROID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6773168" y="1674316"/>
            <a:ext cx="428625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Dataset</a:t>
            </a:r>
            <a:endParaRPr lang="en-US" sz="800" dirty="0"/>
          </a:p>
        </p:txBody>
      </p:sp>
      <p:sp>
        <p:nvSpPr>
          <p:cNvPr id="28" name="Shape 24"/>
          <p:cNvSpPr/>
          <p:nvPr/>
        </p:nvSpPr>
        <p:spPr>
          <a:xfrm>
            <a:off x="6072188" y="2043113"/>
            <a:ext cx="14288" cy="200025"/>
          </a:xfrm>
          <a:prstGeom prst="rect">
            <a:avLst/>
          </a:prstGeom>
          <a:solidFill>
            <a:srgbClr val="9900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5"/>
          <p:cNvSpPr/>
          <p:nvPr/>
        </p:nvSpPr>
        <p:spPr>
          <a:xfrm>
            <a:off x="5350669" y="2286000"/>
            <a:ext cx="1457325" cy="657225"/>
          </a:xfrm>
          <a:prstGeom prst="rect">
            <a:avLst/>
          </a:prstGeom>
          <a:solidFill>
            <a:srgbClr val="FFFFFF"/>
          </a:solidFill>
          <a:ln w="18288">
            <a:solidFill>
              <a:srgbClr val="99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6"/>
          <p:cNvSpPr/>
          <p:nvPr/>
        </p:nvSpPr>
        <p:spPr>
          <a:xfrm>
            <a:off x="5364956" y="2462808"/>
            <a:ext cx="886634" cy="2750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99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Physically Grounded</a:t>
            </a:r>
            <a:endParaRPr lang="en-US" sz="800" dirty="0"/>
          </a:p>
        </p:txBody>
      </p:sp>
      <p:sp>
        <p:nvSpPr>
          <p:cNvPr id="31" name="Text 27"/>
          <p:cNvSpPr/>
          <p:nvPr/>
        </p:nvSpPr>
        <p:spPr>
          <a:xfrm>
            <a:off x="6251591" y="2462808"/>
            <a:ext cx="542116" cy="2750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99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World Model</a:t>
            </a:r>
            <a:endParaRPr lang="en-US" sz="800" dirty="0"/>
          </a:p>
        </p:txBody>
      </p:sp>
      <p:sp>
        <p:nvSpPr>
          <p:cNvPr id="32" name="Shape 28"/>
          <p:cNvSpPr/>
          <p:nvPr/>
        </p:nvSpPr>
        <p:spPr>
          <a:xfrm>
            <a:off x="5086741" y="3000375"/>
            <a:ext cx="1985153" cy="339663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29"/>
          <p:cNvSpPr/>
          <p:nvPr/>
        </p:nvSpPr>
        <p:spPr>
          <a:xfrm>
            <a:off x="5086741" y="3000375"/>
            <a:ext cx="35719" cy="339663"/>
          </a:xfrm>
          <a:prstGeom prst="rect">
            <a:avLst/>
          </a:prstGeom>
          <a:solidFill>
            <a:srgbClr val="99000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0"/>
          <p:cNvSpPr/>
          <p:nvPr/>
        </p:nvSpPr>
        <p:spPr>
          <a:xfrm>
            <a:off x="5247475" y="3057525"/>
            <a:ext cx="39290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222222"/>
                </a:solidFill>
                <a:latin typeface="Playfair Display Black" pitchFamily="34" charset="0"/>
                <a:ea typeface="Playfair Display Black" pitchFamily="34" charset="-122"/>
                <a:cs typeface="Playfair Display Black" pitchFamily="34" charset="-120"/>
              </a:rPr>
              <a:t>L = L</a:t>
            </a:r>
            <a:endParaRPr lang="en-US" sz="1250" dirty="0"/>
          </a:p>
        </p:txBody>
      </p:sp>
      <p:sp>
        <p:nvSpPr>
          <p:cNvPr id="35" name="Text 31"/>
          <p:cNvSpPr/>
          <p:nvPr/>
        </p:nvSpPr>
        <p:spPr>
          <a:xfrm>
            <a:off x="5640381" y="3123940"/>
            <a:ext cx="116086" cy="19109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222222"/>
                </a:solidFill>
                <a:latin typeface="Playfair Display Black" pitchFamily="34" charset="0"/>
                <a:ea typeface="Playfair Display Black" pitchFamily="34" charset="-122"/>
                <a:cs typeface="Playfair Display Black" pitchFamily="34" charset="-120"/>
              </a:rPr>
              <a:t>D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5756467" y="3181090"/>
            <a:ext cx="217884" cy="15894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baseline="-40000" dirty="0">
                <a:solidFill>
                  <a:srgbClr val="222222"/>
                </a:solidFill>
                <a:latin typeface="Playfair Display Black" pitchFamily="34" charset="0"/>
                <a:ea typeface="Playfair Display Black" pitchFamily="34" charset="-122"/>
                <a:cs typeface="Playfair Display Black" pitchFamily="34" charset="-120"/>
              </a:rPr>
              <a:t>real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5974352" y="3057525"/>
            <a:ext cx="39924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222222"/>
                </a:solidFill>
                <a:latin typeface="Playfair Display Black" pitchFamily="34" charset="0"/>
                <a:ea typeface="Playfair Display Black" pitchFamily="34" charset="-122"/>
                <a:cs typeface="Playfair Display Black" pitchFamily="34" charset="-120"/>
              </a:rPr>
              <a:t>+ λ L</a:t>
            </a:r>
            <a:endParaRPr lang="en-US" sz="1250" dirty="0"/>
          </a:p>
        </p:txBody>
      </p:sp>
      <p:sp>
        <p:nvSpPr>
          <p:cNvPr id="38" name="Text 34"/>
          <p:cNvSpPr/>
          <p:nvPr/>
        </p:nvSpPr>
        <p:spPr>
          <a:xfrm>
            <a:off x="6373592" y="3123940"/>
            <a:ext cx="116086" cy="19109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222222"/>
                </a:solidFill>
                <a:latin typeface="Playfair Display Black" pitchFamily="34" charset="0"/>
                <a:ea typeface="Playfair Display Black" pitchFamily="34" charset="-122"/>
                <a:cs typeface="Playfair Display Black" pitchFamily="34" charset="-120"/>
              </a:rPr>
              <a:t>D</a:t>
            </a:r>
            <a:endParaRPr lang="en-US" sz="1050" dirty="0"/>
          </a:p>
        </p:txBody>
      </p:sp>
      <p:sp>
        <p:nvSpPr>
          <p:cNvPr id="39" name="Text 35"/>
          <p:cNvSpPr/>
          <p:nvPr/>
        </p:nvSpPr>
        <p:spPr>
          <a:xfrm>
            <a:off x="6489678" y="3181090"/>
            <a:ext cx="421481" cy="15894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baseline="-40000" dirty="0">
                <a:solidFill>
                  <a:srgbClr val="222222"/>
                </a:solidFill>
                <a:latin typeface="Playfair Display Black" pitchFamily="34" charset="0"/>
                <a:ea typeface="Playfair Display Black" pitchFamily="34" charset="-122"/>
                <a:cs typeface="Playfair Display Black" pitchFamily="34" charset="-120"/>
              </a:rPr>
              <a:t>DROID</a:t>
            </a:r>
            <a:endParaRPr lang="en-US" sz="850" dirty="0"/>
          </a:p>
        </p:txBody>
      </p:sp>
      <p:sp>
        <p:nvSpPr>
          <p:cNvPr id="40" name="Text 36"/>
          <p:cNvSpPr/>
          <p:nvPr/>
        </p:nvSpPr>
        <p:spPr>
          <a:xfrm>
            <a:off x="4729163" y="3411475"/>
            <a:ext cx="2700338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通过联合优化目标函数，实现物理保真度与泛化能力的平衡。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" y="57150"/>
            <a:ext cx="90297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5775" y="699222"/>
            <a:ext cx="2614613" cy="617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800" b="1" dirty="0">
                <a:solidFill>
                  <a:srgbClr val="222222"/>
                </a:solidFill>
                <a:latin typeface="Playfair Display Black" pitchFamily="34" charset="0"/>
                <a:ea typeface="Playfair Display Black" pitchFamily="34" charset="-122"/>
                <a:cs typeface="Playfair Display Black" pitchFamily="34" charset="-120"/>
              </a:rPr>
              <a:t>技术细节：基于 VLM 的自动奖励模型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57225" y="1623613"/>
            <a:ext cx="2443163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自动标注挑战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57225" y="1870072"/>
            <a:ext cx="231457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大规模合成数据需要高效且准确的奖励标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57225" y="2062953"/>
            <a:ext cx="167163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注，以区分成功与失败轨迹。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657225" y="2323700"/>
            <a:ext cx="2443163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Qwen3-VL 的应用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57225" y="2570159"/>
            <a:ext cx="242173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采用 4B 规模的视觉语言模型作为基础奖励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657225" y="2763041"/>
            <a:ext cx="1928813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器，具备强大的多模态理解能力。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57225" y="3023788"/>
            <a:ext cx="2443163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任务相关微调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57225" y="3270247"/>
            <a:ext cx="2403872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利用首轮真实交互数据对 VLM 进行微调，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57225" y="3463128"/>
            <a:ext cx="231457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显著提升其在特定机器人任务中的判断精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657225" y="3656009"/>
            <a:ext cx="25717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度。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57225" y="3916756"/>
            <a:ext cx="2443163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筛选机制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57225" y="4163216"/>
            <a:ext cx="239137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通过判定 token 'yes' 的概率是否超过阈值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657225" y="4356097"/>
            <a:ext cx="217705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α 来过滤数据，确保训练集的纯净度。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100388" y="57150"/>
            <a:ext cx="6100763" cy="5143500"/>
          </a:xfrm>
          <a:prstGeom prst="rect">
            <a:avLst/>
          </a:prstGeom>
          <a:solidFill>
            <a:srgbClr val="FDFDFD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3191" y="626864"/>
            <a:ext cx="208955" cy="185738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464844" y="555427"/>
            <a:ext cx="3657600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输入轨迹视频 + 任务指令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4464844" y="742950"/>
            <a:ext cx="3657600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合成世界模型生成的动作序列视频。</a:t>
            </a:r>
            <a:endParaRPr lang="en-US" sz="75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6823" y="1028700"/>
            <a:ext cx="125016" cy="142875"/>
          </a:xfrm>
          <a:prstGeom prst="rect">
            <a:avLst/>
          </a:prstGeom>
        </p:spPr>
      </p:pic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0" y="1414463"/>
            <a:ext cx="185738" cy="18573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4464844" y="1343025"/>
            <a:ext cx="3657600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微调后的 Qwen3-VL 评估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4464844" y="1530548"/>
            <a:ext cx="3657600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基于视觉特征判断指令完成情况。</a:t>
            </a:r>
            <a:endParaRPr lang="en-US" sz="75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6823" y="1816298"/>
            <a:ext cx="125016" cy="142875"/>
          </a:xfrm>
          <a:prstGeom prst="rect">
            <a:avLst/>
          </a:prstGeom>
        </p:spPr>
      </p:pic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4800" y="2202061"/>
            <a:ext cx="185738" cy="185738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4464844" y="2130623"/>
            <a:ext cx="3657600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二值奖励输出 (0 / 1)</a:t>
            </a:r>
            <a:endParaRPr lang="en-US" sz="900" dirty="0"/>
          </a:p>
        </p:txBody>
      </p:sp>
      <p:sp>
        <p:nvSpPr>
          <p:cNvPr id="28" name="Text 20"/>
          <p:cNvSpPr/>
          <p:nvPr/>
        </p:nvSpPr>
        <p:spPr>
          <a:xfrm>
            <a:off x="4464844" y="2318147"/>
            <a:ext cx="3657600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仅保留成功轨迹用于策略优化。</a:t>
            </a:r>
            <a:endParaRPr lang="en-US" sz="750" dirty="0"/>
          </a:p>
        </p:txBody>
      </p:sp>
      <p:sp>
        <p:nvSpPr>
          <p:cNvPr id="29" name="Shape 21"/>
          <p:cNvSpPr/>
          <p:nvPr/>
        </p:nvSpPr>
        <p:spPr>
          <a:xfrm>
            <a:off x="5073988" y="2703909"/>
            <a:ext cx="2010687" cy="400050"/>
          </a:xfrm>
          <a:prstGeom prst="rect">
            <a:avLst/>
          </a:prstGeom>
          <a:solidFill>
            <a:srgbClr val="22222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2"/>
          <p:cNvSpPr/>
          <p:nvPr/>
        </p:nvSpPr>
        <p:spPr>
          <a:xfrm>
            <a:off x="5073988" y="2703909"/>
            <a:ext cx="2010687" cy="400050"/>
          </a:xfrm>
          <a:prstGeom prst="rect">
            <a:avLst/>
          </a:prstGeom>
          <a:noFill/>
          <a:ln/>
        </p:spPr>
        <p:txBody>
          <a:bodyPr wrap="square" lIns="119126" tIns="68072" rIns="119126" bIns="0" rtlCol="0" anchor="ctr">
            <a:sp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layfair Display Black" pitchFamily="34" charset="0"/>
                <a:ea typeface="Playfair Display Black" pitchFamily="34" charset="-122"/>
                <a:cs typeface="Playfair Display Black" pitchFamily="34" charset="-120"/>
              </a:rPr>
              <a:t>R(τ) = 1 [ P('yes' | τ, I) &gt; α ]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" y="57150"/>
            <a:ext cx="90297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5775" y="699222"/>
            <a:ext cx="2614613" cy="617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800" b="1" dirty="0">
                <a:solidFill>
                  <a:srgbClr val="222222"/>
                </a:solidFill>
                <a:latin typeface="Playfair Display Black" pitchFamily="34" charset="0"/>
                <a:ea typeface="Playfair Display Black" pitchFamily="34" charset="-122"/>
                <a:cs typeface="Playfair Display Black" pitchFamily="34" charset="-120"/>
              </a:rPr>
              <a:t>策略优化：适用于表达性策略的 AWR 更新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78656" y="1623613"/>
            <a:ext cx="2421731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Flow-matching 挑战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78656" y="1890052"/>
            <a:ext cx="2309217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现代 VLA 多采用 Flow-matching 目标，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78656" y="2095770"/>
            <a:ext cx="20574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其动作概率难以直接计算，导致传统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678656" y="2301487"/>
            <a:ext cx="158234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Policy Gradient 方法失效。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78656" y="2653652"/>
            <a:ext cx="2421731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优势加权回归 (AWR)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78656" y="2920092"/>
            <a:ext cx="231457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采用一种稳定的监督式学习更新目标，通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78656" y="3125809"/>
            <a:ext cx="231457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过加权回归实现策略优化，无需显式计算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8656" y="3331527"/>
            <a:ext cx="64293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动作似然。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78656" y="3683691"/>
            <a:ext cx="2421731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加权优化目标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78656" y="3950131"/>
            <a:ext cx="231457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对成功轨迹赋予正权重，对失败轨迹赋予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78656" y="4155849"/>
            <a:ext cx="231457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零权重，在真实与合成数据上统一优化。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100388" y="57150"/>
            <a:ext cx="6100763" cy="5143500"/>
          </a:xfrm>
          <a:prstGeom prst="rect">
            <a:avLst/>
          </a:prstGeom>
          <a:solidFill>
            <a:srgbClr val="FDFDF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Shape 13"/>
          <p:cNvSpPr/>
          <p:nvPr/>
        </p:nvSpPr>
        <p:spPr>
          <a:xfrm>
            <a:off x="3386138" y="628650"/>
            <a:ext cx="5386388" cy="1357313"/>
          </a:xfrm>
          <a:prstGeom prst="rect">
            <a:avLst/>
          </a:prstGeom>
          <a:solidFill>
            <a:srgbClr val="22222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4"/>
          <p:cNvSpPr/>
          <p:nvPr/>
        </p:nvSpPr>
        <p:spPr>
          <a:xfrm>
            <a:off x="3529013" y="735806"/>
            <a:ext cx="1269802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kern="0" spc="1" dirty="0">
                <a:solidFill>
                  <a:srgbClr val="9999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OPTIMIZATION OBJECTIVE</a:t>
            </a:r>
            <a:endParaRPr lang="en-US" sz="600" dirty="0"/>
          </a:p>
        </p:txBody>
      </p:sp>
      <p:sp>
        <p:nvSpPr>
          <p:cNvPr id="18" name="Text 15"/>
          <p:cNvSpPr/>
          <p:nvPr/>
        </p:nvSpPr>
        <p:spPr>
          <a:xfrm>
            <a:off x="4353223" y="923330"/>
            <a:ext cx="473273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44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L = E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826496" y="981540"/>
            <a:ext cx="550069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44026"/>
              </a:lnSpc>
              <a:buNone/>
            </a:pPr>
            <a:r>
              <a:rPr lang="en-US" sz="950" baseline="-40000" dirty="0">
                <a:solidFill>
                  <a:srgbClr val="FFFF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(o,a)~D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5376565" y="923330"/>
            <a:ext cx="283964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44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[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660529" y="923330"/>
            <a:ext cx="567928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44000"/>
              </a:lnSpc>
              <a:buNone/>
            </a:pPr>
            <a:r>
              <a:rPr lang="en-US" sz="1150" dirty="0">
                <a:solidFill>
                  <a:srgbClr val="990000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w(o,a)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6228457" y="923330"/>
            <a:ext cx="378619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44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· L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6607076" y="981540"/>
            <a:ext cx="157163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44026"/>
              </a:lnSpc>
              <a:buNone/>
            </a:pPr>
            <a:r>
              <a:rPr lang="en-US" sz="950" baseline="-40000" dirty="0">
                <a:solidFill>
                  <a:srgbClr val="FFFF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FM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764238" y="923330"/>
            <a:ext cx="1041202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44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(θ; o, a) ]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4891683" y="1267262"/>
            <a:ext cx="2375297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44000"/>
              </a:lnSpc>
              <a:buNone/>
            </a:pPr>
            <a:r>
              <a:rPr lang="en-US" sz="850" dirty="0">
                <a:solidFill>
                  <a:srgbClr val="99999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where w(o,a) = 1 if success, else 0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3386138" y="2200275"/>
            <a:ext cx="2650331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正则化 RL 解释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3386138" y="2444948"/>
            <a:ext cx="2650331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0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该目标在数学上等价于在参考策略附近的约束优化，保证了策略更新的稳定性。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6122194" y="2200275"/>
            <a:ext cx="2650331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统一数据处理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122194" y="2444948"/>
            <a:ext cx="2650331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0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真实 Rollout 与世界模型生成的合成数据在同一框架下进行加权训练，实现规模化扩展。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3386138" y="2923580"/>
            <a:ext cx="2650331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表达性策略兼容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3386138" y="3168253"/>
            <a:ext cx="2650331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0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完美适配 Diffusion 和 Flow-matching 等非似然基策略，保留了模型的高表达能力。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6122194" y="2923580"/>
            <a:ext cx="2650331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自动标注集成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6122194" y="3168253"/>
            <a:ext cx="2650331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0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权重 w(o,a) 由微调后的奖励模型自动生成，实现了端到端的自动化策略改进。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642072"/>
            <a:ext cx="2614613" cy="617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800" b="1" dirty="0">
                <a:solidFill>
                  <a:srgbClr val="222222"/>
                </a:solidFill>
                <a:latin typeface="Playfair Display Black" pitchFamily="34" charset="0"/>
                <a:ea typeface="Playfair Display Black" pitchFamily="34" charset="-122"/>
                <a:cs typeface="Playfair Display Black" pitchFamily="34" charset="-120"/>
              </a:rPr>
              <a:t>实验设置：真实机器人平台 DROID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21506" y="1637900"/>
            <a:ext cx="2421731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硬件环境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21506" y="1904340"/>
            <a:ext cx="227707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采用 Franka Panda 机械臂配备 Robotiq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21506" y="2110057"/>
            <a:ext cx="78759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2F-85 夹爪。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621506" y="2433647"/>
            <a:ext cx="2421731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视觉系统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21506" y="2700086"/>
            <a:ext cx="231457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包含两个第三视角摄像头和一个腕部安装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621506" y="2905804"/>
            <a:ext cx="1928813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摄像头，提供多维度的交互观察。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21506" y="3229394"/>
            <a:ext cx="2421731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数据规模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21506" y="3495833"/>
            <a:ext cx="241101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每类任务初始包含 25 条专家演示；每轮迭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21506" y="3701551"/>
            <a:ext cx="163949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代收集 50 条真实在线轨迹。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043238" y="0"/>
            <a:ext cx="6100763" cy="514350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1"/>
          <p:cNvSpPr/>
          <p:nvPr/>
        </p:nvSpPr>
        <p:spPr>
          <a:xfrm>
            <a:off x="3328988" y="371475"/>
            <a:ext cx="2636044" cy="1000125"/>
          </a:xfrm>
          <a:prstGeom prst="rect">
            <a:avLst/>
          </a:prstGeom>
          <a:solidFill>
            <a:srgbClr val="FFFFFF"/>
          </a:solidFill>
          <a:ln w="9144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1863" y="505420"/>
            <a:ext cx="225028" cy="20002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471863" y="800100"/>
            <a:ext cx="2350294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9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堆叠方块 (Stacking)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3471863" y="1044773"/>
            <a:ext cx="2350294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涉及频繁的刚体碰撞与精准对齐，考验接触动态建模。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6079331" y="371475"/>
            <a:ext cx="2636044" cy="1000125"/>
          </a:xfrm>
          <a:prstGeom prst="rect">
            <a:avLst/>
          </a:prstGeom>
          <a:solidFill>
            <a:srgbClr val="FFFFFF"/>
          </a:solidFill>
          <a:ln w="9144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2206" y="505420"/>
            <a:ext cx="225028" cy="20002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22206" y="800100"/>
            <a:ext cx="2350294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9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翻书 (Open Book)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6222206" y="1044773"/>
            <a:ext cx="2350294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涉及纸张等可变形物体的交互，传统模拟器难以准确仿真。</a:t>
            </a:r>
            <a:endParaRPr lang="en-US" sz="750" dirty="0"/>
          </a:p>
        </p:txBody>
      </p:sp>
      <p:sp>
        <p:nvSpPr>
          <p:cNvPr id="22" name="Shape 17"/>
          <p:cNvSpPr/>
          <p:nvPr/>
        </p:nvSpPr>
        <p:spPr>
          <a:xfrm>
            <a:off x="3328988" y="1485900"/>
            <a:ext cx="2636044" cy="1000125"/>
          </a:xfrm>
          <a:prstGeom prst="rect">
            <a:avLst/>
          </a:prstGeom>
          <a:solidFill>
            <a:srgbClr val="FFFFFF"/>
          </a:solidFill>
          <a:ln w="9144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1863" y="1619845"/>
            <a:ext cx="200025" cy="200025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3471863" y="1914525"/>
            <a:ext cx="2350294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9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擦除标记 (Erase Marks)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3471863" y="2159198"/>
            <a:ext cx="2350294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精细的表面交互任务，要求对摩擦力和接触面积有准确理解。</a:t>
            </a:r>
            <a:endParaRPr lang="en-US" sz="750" dirty="0"/>
          </a:p>
        </p:txBody>
      </p:sp>
      <p:sp>
        <p:nvSpPr>
          <p:cNvPr id="26" name="Shape 20"/>
          <p:cNvSpPr/>
          <p:nvPr/>
        </p:nvSpPr>
        <p:spPr>
          <a:xfrm>
            <a:off x="6079331" y="1485900"/>
            <a:ext cx="2636044" cy="1000125"/>
          </a:xfrm>
          <a:prstGeom prst="rect">
            <a:avLst/>
          </a:prstGeom>
          <a:solidFill>
            <a:srgbClr val="FFFFFF"/>
          </a:solidFill>
          <a:ln w="9144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2206" y="1619845"/>
            <a:ext cx="200025" cy="200025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222206" y="1914525"/>
            <a:ext cx="2350294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9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舀取零食 (Scooping)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6222206" y="2159198"/>
            <a:ext cx="2350294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涉及颗粒状物体的动力学，是世界模型建模的巨大挑战。</a:t>
            </a:r>
            <a:endParaRPr lang="en-US" sz="750" dirty="0"/>
          </a:p>
        </p:txBody>
      </p:sp>
      <p:sp>
        <p:nvSpPr>
          <p:cNvPr id="30" name="Shape 23"/>
          <p:cNvSpPr/>
          <p:nvPr/>
        </p:nvSpPr>
        <p:spPr>
          <a:xfrm>
            <a:off x="3328988" y="2600325"/>
            <a:ext cx="2636044" cy="1000125"/>
          </a:xfrm>
          <a:prstGeom prst="rect">
            <a:avLst/>
          </a:prstGeom>
          <a:solidFill>
            <a:srgbClr val="FFFFFF"/>
          </a:solidFill>
          <a:ln w="9144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71863" y="2734270"/>
            <a:ext cx="200025" cy="200025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3471863" y="3028950"/>
            <a:ext cx="2350294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9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画圆 (Drawing)</a:t>
            </a:r>
            <a:endParaRPr lang="en-US" sz="900" dirty="0"/>
          </a:p>
        </p:txBody>
      </p:sp>
      <p:sp>
        <p:nvSpPr>
          <p:cNvPr id="33" name="Text 25"/>
          <p:cNvSpPr/>
          <p:nvPr/>
        </p:nvSpPr>
        <p:spPr>
          <a:xfrm>
            <a:off x="3471863" y="3273623"/>
            <a:ext cx="2350294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长时域轨迹一致性任务，要求策略在长时间内保持稳定。</a:t>
            </a:r>
            <a:endParaRPr lang="en-US" sz="750" dirty="0"/>
          </a:p>
        </p:txBody>
      </p:sp>
      <p:sp>
        <p:nvSpPr>
          <p:cNvPr id="34" name="Shape 26"/>
          <p:cNvSpPr/>
          <p:nvPr/>
        </p:nvSpPr>
        <p:spPr>
          <a:xfrm>
            <a:off x="6079331" y="2600325"/>
            <a:ext cx="2636044" cy="1000125"/>
          </a:xfrm>
          <a:prstGeom prst="rect">
            <a:avLst/>
          </a:prstGeom>
          <a:solidFill>
            <a:srgbClr val="222222"/>
          </a:solidFill>
          <a:ln w="9144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Text 27"/>
          <p:cNvSpPr/>
          <p:nvPr/>
        </p:nvSpPr>
        <p:spPr>
          <a:xfrm>
            <a:off x="7040166" y="2950369"/>
            <a:ext cx="714375" cy="4143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5 大类别
挑战性任务</a:t>
            </a:r>
            <a:endParaRPr lang="en-US" sz="1000" dirty="0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28988" y="3871913"/>
            <a:ext cx="100013" cy="100013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3429000" y="3862983"/>
            <a:ext cx="628650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44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真实环境部署</a:t>
            </a:r>
            <a:endParaRPr lang="en-US" sz="750" dirty="0"/>
          </a:p>
        </p:txBody>
      </p:sp>
      <p:pic>
        <p:nvPicPr>
          <p:cNvPr id="38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07844" y="3871913"/>
            <a:ext cx="100013" cy="100013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5707856" y="3862983"/>
            <a:ext cx="628650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44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接触密集交互</a:t>
            </a:r>
            <a:endParaRPr lang="en-US" sz="750" dirty="0"/>
          </a:p>
        </p:txBody>
      </p:sp>
      <p:pic>
        <p:nvPicPr>
          <p:cNvPr id="4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86700" y="3871913"/>
            <a:ext cx="100013" cy="100013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7986713" y="3862983"/>
            <a:ext cx="72866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44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可变形物体支持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" y="57150"/>
            <a:ext cx="90297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5775" y="699222"/>
            <a:ext cx="2614613" cy="617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800" b="1" dirty="0">
                <a:solidFill>
                  <a:srgbClr val="222222"/>
                </a:solidFill>
                <a:latin typeface="Playfair Display Black" pitchFamily="34" charset="0"/>
                <a:ea typeface="Playfair Display Black" pitchFamily="34" charset="-122"/>
                <a:cs typeface="Playfair Display Black" pitchFamily="34" charset="-120"/>
              </a:rPr>
              <a:t>实验结果：世界模型建模能力的提升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78656" y="1766488"/>
            <a:ext cx="2421731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定量指标显著改善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78656" y="2032927"/>
            <a:ext cx="218598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在引入真实在线数据后，视频质量指标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78656" y="2238645"/>
            <a:ext cx="2407444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（PSNR, SSIM）和分布指标（FID, FVD）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678656" y="2444362"/>
            <a:ext cx="10287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均获得大幅提升。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78656" y="2839389"/>
            <a:ext cx="2421731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物理保真度验证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78656" y="3105829"/>
            <a:ext cx="2175272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Grounded 后的模型能准确预测失败场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78656" y="3311547"/>
            <a:ext cx="2418159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景，有效减少了传统模型“过于乐观”的预测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8656" y="3517264"/>
            <a:ext cx="385763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偏差。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78656" y="3912291"/>
            <a:ext cx="2421731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长时域稳定性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78656" y="4178731"/>
            <a:ext cx="230743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支持长达 20 秒的策略闭环 rollout，在复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78656" y="4384449"/>
            <a:ext cx="231457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杂交互中依然能保持物理逻辑的一致性。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100388" y="57150"/>
            <a:ext cx="6100763" cy="514350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3"/>
          <p:cNvSpPr/>
          <p:nvPr/>
        </p:nvSpPr>
        <p:spPr>
          <a:xfrm>
            <a:off x="3386138" y="485775"/>
            <a:ext cx="5386388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视频质量指标对比 (Video Quality Metrics)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3386138" y="864394"/>
            <a:ext cx="2343457" cy="237530"/>
          </a:xfrm>
          <a:prstGeom prst="rect">
            <a:avLst/>
          </a:prstGeom>
          <a:solidFill>
            <a:srgbClr val="22222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5"/>
          <p:cNvSpPr/>
          <p:nvPr/>
        </p:nvSpPr>
        <p:spPr>
          <a:xfrm>
            <a:off x="3386138" y="864394"/>
            <a:ext cx="2343457" cy="237530"/>
          </a:xfrm>
          <a:prstGeom prst="rect">
            <a:avLst/>
          </a:prstGeom>
          <a:noFill/>
          <a:ln/>
        </p:spPr>
        <p:txBody>
          <a:bodyPr wrap="squar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模型配置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5729594" y="864394"/>
            <a:ext cx="853036" cy="237530"/>
          </a:xfrm>
          <a:prstGeom prst="rect">
            <a:avLst/>
          </a:prstGeom>
          <a:solidFill>
            <a:srgbClr val="22222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7"/>
          <p:cNvSpPr/>
          <p:nvPr/>
        </p:nvSpPr>
        <p:spPr>
          <a:xfrm>
            <a:off x="5729594" y="864394"/>
            <a:ext cx="853036" cy="237530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PSNR ↑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6582631" y="864394"/>
            <a:ext cx="817094" cy="237530"/>
          </a:xfrm>
          <a:prstGeom prst="rect">
            <a:avLst/>
          </a:prstGeom>
          <a:solidFill>
            <a:srgbClr val="22222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Text 19"/>
          <p:cNvSpPr/>
          <p:nvPr/>
        </p:nvSpPr>
        <p:spPr>
          <a:xfrm>
            <a:off x="6582631" y="864394"/>
            <a:ext cx="817094" cy="237530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SSIM ↑</a:t>
            </a:r>
            <a:endParaRPr lang="en-US" sz="700" dirty="0"/>
          </a:p>
        </p:txBody>
      </p:sp>
      <p:sp>
        <p:nvSpPr>
          <p:cNvPr id="23" name="Shape 20"/>
          <p:cNvSpPr/>
          <p:nvPr/>
        </p:nvSpPr>
        <p:spPr>
          <a:xfrm>
            <a:off x="7399725" y="864394"/>
            <a:ext cx="643858" cy="237530"/>
          </a:xfrm>
          <a:prstGeom prst="rect">
            <a:avLst/>
          </a:prstGeom>
          <a:solidFill>
            <a:srgbClr val="22222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1"/>
          <p:cNvSpPr/>
          <p:nvPr/>
        </p:nvSpPr>
        <p:spPr>
          <a:xfrm>
            <a:off x="7399725" y="864394"/>
            <a:ext cx="643858" cy="237530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FID ↓</a:t>
            </a:r>
            <a:endParaRPr lang="en-US" sz="700" dirty="0"/>
          </a:p>
        </p:txBody>
      </p:sp>
      <p:sp>
        <p:nvSpPr>
          <p:cNvPr id="25" name="Shape 22"/>
          <p:cNvSpPr/>
          <p:nvPr/>
        </p:nvSpPr>
        <p:spPr>
          <a:xfrm>
            <a:off x="8043583" y="864394"/>
            <a:ext cx="728942" cy="237530"/>
          </a:xfrm>
          <a:prstGeom prst="rect">
            <a:avLst/>
          </a:prstGeom>
          <a:solidFill>
            <a:srgbClr val="22222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3"/>
          <p:cNvSpPr/>
          <p:nvPr/>
        </p:nvSpPr>
        <p:spPr>
          <a:xfrm>
            <a:off x="8043583" y="864394"/>
            <a:ext cx="728942" cy="237530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FVD ↓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3386138" y="1101923"/>
            <a:ext cx="2343457" cy="217884"/>
          </a:xfrm>
          <a:prstGeom prst="rect">
            <a:avLst/>
          </a:prstGeom>
          <a:noFill/>
          <a:ln/>
        </p:spPr>
        <p:txBody>
          <a:bodyPr wrap="squar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222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Pretrained Ctrl-world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5729594" y="1101923"/>
            <a:ext cx="853036" cy="217884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222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16.32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6582631" y="1101923"/>
            <a:ext cx="817094" cy="217884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222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0.634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7399725" y="1101923"/>
            <a:ext cx="643858" cy="217884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222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41.03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8043583" y="1101923"/>
            <a:ext cx="728942" cy="217884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222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225.13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3386138" y="1319808"/>
            <a:ext cx="2343457" cy="221456"/>
          </a:xfrm>
          <a:prstGeom prst="rect">
            <a:avLst/>
          </a:prstGeom>
          <a:noFill/>
          <a:ln/>
        </p:spPr>
        <p:txBody>
          <a:bodyPr wrap="squar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222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Expert Rollout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5729594" y="1319808"/>
            <a:ext cx="853036" cy="221456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222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19.87</a:t>
            </a:r>
            <a:endParaRPr lang="en-US" sz="750" dirty="0"/>
          </a:p>
        </p:txBody>
      </p:sp>
      <p:sp>
        <p:nvSpPr>
          <p:cNvPr id="34" name="Text 31"/>
          <p:cNvSpPr/>
          <p:nvPr/>
        </p:nvSpPr>
        <p:spPr>
          <a:xfrm>
            <a:off x="6582631" y="1319808"/>
            <a:ext cx="817094" cy="221456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222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0.748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7399725" y="1319808"/>
            <a:ext cx="643858" cy="221456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222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12.76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8043583" y="1319808"/>
            <a:ext cx="728942" cy="221456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222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99.98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3386138" y="1541264"/>
            <a:ext cx="2343457" cy="225028"/>
          </a:xfrm>
          <a:prstGeom prst="rect">
            <a:avLst/>
          </a:prstGeom>
          <a:noFill/>
          <a:ln/>
        </p:spPr>
        <p:txBody>
          <a:bodyPr wrap="squar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99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 Expert + Online Rollout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5729594" y="1541264"/>
            <a:ext cx="853036" cy="225028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99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21.77</a:t>
            </a:r>
            <a:endParaRPr lang="en-US" sz="700" dirty="0"/>
          </a:p>
        </p:txBody>
      </p:sp>
      <p:sp>
        <p:nvSpPr>
          <p:cNvPr id="39" name="Text 36"/>
          <p:cNvSpPr/>
          <p:nvPr/>
        </p:nvSpPr>
        <p:spPr>
          <a:xfrm>
            <a:off x="6582631" y="1541264"/>
            <a:ext cx="817094" cy="225028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99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0.784</a:t>
            </a:r>
            <a:endParaRPr lang="en-US" sz="700" dirty="0"/>
          </a:p>
        </p:txBody>
      </p:sp>
      <p:sp>
        <p:nvSpPr>
          <p:cNvPr id="40" name="Text 37"/>
          <p:cNvSpPr/>
          <p:nvPr/>
        </p:nvSpPr>
        <p:spPr>
          <a:xfrm>
            <a:off x="7399725" y="1541264"/>
            <a:ext cx="643858" cy="225028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99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9.58</a:t>
            </a:r>
            <a:endParaRPr lang="en-US" sz="700" dirty="0"/>
          </a:p>
        </p:txBody>
      </p:sp>
      <p:sp>
        <p:nvSpPr>
          <p:cNvPr id="41" name="Text 38"/>
          <p:cNvSpPr/>
          <p:nvPr/>
        </p:nvSpPr>
        <p:spPr>
          <a:xfrm>
            <a:off x="8043583" y="1541264"/>
            <a:ext cx="728942" cy="225028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99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64.12</a:t>
            </a:r>
            <a:endParaRPr lang="en-US" sz="700" dirty="0"/>
          </a:p>
        </p:txBody>
      </p:sp>
      <p:pic>
        <p:nvPicPr>
          <p:cNvPr id="4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6138" y="2059186"/>
            <a:ext cx="5357813" cy="2143125"/>
          </a:xfrm>
          <a:prstGeom prst="rect">
            <a:avLst/>
          </a:prstGeom>
        </p:spPr>
      </p:pic>
      <p:sp>
        <p:nvSpPr>
          <p:cNvPr id="43" name="Text 39"/>
          <p:cNvSpPr/>
          <p:nvPr/>
        </p:nvSpPr>
        <p:spPr>
          <a:xfrm>
            <a:off x="3386138" y="4273748"/>
            <a:ext cx="5386388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60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FVD 指标下降趋势 (越低代表视频分布越接近真实)</a:t>
            </a:r>
            <a:endParaRPr lang="en-US" sz="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" y="57150"/>
            <a:ext cx="90297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5775" y="699222"/>
            <a:ext cx="2614613" cy="617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800" b="1" dirty="0">
                <a:solidFill>
                  <a:srgbClr val="222222"/>
                </a:solidFill>
                <a:latin typeface="Playfair Display Black" pitchFamily="34" charset="0"/>
                <a:ea typeface="Playfair Display Black" pitchFamily="34" charset="-122"/>
                <a:cs typeface="Playfair Display Black" pitchFamily="34" charset="-120"/>
              </a:rPr>
              <a:t>实验结果：VLA 策略性能的大幅跃升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78656" y="1766488"/>
            <a:ext cx="2421731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跨任务通用提升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78656" y="2032927"/>
            <a:ext cx="234493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在所有 5 类挑战性任务中，VLAW 相比基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78656" y="2238645"/>
            <a:ext cx="236458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线（OpenVLA）实现了平均 2.5 倍的成功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678656" y="2444362"/>
            <a:ext cx="51435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率提升。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78656" y="2875108"/>
            <a:ext cx="2421731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复杂交互优势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78656" y="3141548"/>
            <a:ext cx="2389584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在翻书（+180%）和擦除标记（+220%）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78656" y="3347265"/>
            <a:ext cx="231457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等涉及精细物理反馈的任务中表现尤为突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8656" y="3552983"/>
            <a:ext cx="25717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出。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78656" y="3983729"/>
            <a:ext cx="2421731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迭代增益显著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78656" y="4250168"/>
            <a:ext cx="2366367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仅需一轮迭代，策略即可从世界模型的“想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78656" y="4455886"/>
            <a:ext cx="2109192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象”中学习到关键的避障与接触技巧。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100388" y="57150"/>
            <a:ext cx="6100763" cy="5143500"/>
          </a:xfrm>
          <a:prstGeom prst="rect">
            <a:avLst/>
          </a:prstGeom>
          <a:solidFill>
            <a:srgbClr val="FDFDFD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6138" y="628650"/>
            <a:ext cx="5386388" cy="28575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785295" y="3929063"/>
            <a:ext cx="969764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2450" b="1" dirty="0">
                <a:solidFill>
                  <a:srgbClr val="990000"/>
                </a:solidFill>
                <a:latin typeface="Playfair Display Black" pitchFamily="34" charset="0"/>
                <a:ea typeface="Playfair Display Black" pitchFamily="34" charset="-122"/>
                <a:cs typeface="Playfair Display Black" pitchFamily="34" charset="-120"/>
              </a:rPr>
              <a:t>+150%</a:t>
            </a:r>
            <a:endParaRPr lang="en-US" sz="2450" dirty="0"/>
          </a:p>
        </p:txBody>
      </p:sp>
      <p:sp>
        <p:nvSpPr>
          <p:cNvPr id="18" name="Text 14"/>
          <p:cNvSpPr/>
          <p:nvPr/>
        </p:nvSpPr>
        <p:spPr>
          <a:xfrm>
            <a:off x="3785295" y="4386263"/>
            <a:ext cx="969764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750" kern="0" spc="1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平均成功率提升</a:t>
            </a:r>
            <a:endParaRPr lang="en-US" sz="750" dirty="0"/>
          </a:p>
        </p:txBody>
      </p:sp>
      <p:sp>
        <p:nvSpPr>
          <p:cNvPr id="19" name="Text 15"/>
          <p:cNvSpPr/>
          <p:nvPr/>
        </p:nvSpPr>
        <p:spPr>
          <a:xfrm>
            <a:off x="5553373" y="3929063"/>
            <a:ext cx="127158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2450" b="1" dirty="0">
                <a:solidFill>
                  <a:srgbClr val="990000"/>
                </a:solidFill>
                <a:latin typeface="Playfair Display Black" pitchFamily="34" charset="0"/>
                <a:ea typeface="Playfair Display Black" pitchFamily="34" charset="-122"/>
                <a:cs typeface="Playfair Display Black" pitchFamily="34" charset="-120"/>
              </a:rPr>
              <a:t>2.5x</a:t>
            </a:r>
            <a:endParaRPr lang="en-US" sz="2450" dirty="0"/>
          </a:p>
        </p:txBody>
      </p:sp>
      <p:sp>
        <p:nvSpPr>
          <p:cNvPr id="20" name="Text 16"/>
          <p:cNvSpPr/>
          <p:nvPr/>
        </p:nvSpPr>
        <p:spPr>
          <a:xfrm>
            <a:off x="5553373" y="4386263"/>
            <a:ext cx="1271588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750" kern="0" spc="1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性能倍率 (VS BASELINE)</a:t>
            </a:r>
            <a:endParaRPr lang="en-US" sz="750" dirty="0"/>
          </a:p>
        </p:txBody>
      </p:sp>
      <p:sp>
        <p:nvSpPr>
          <p:cNvPr id="21" name="Text 17"/>
          <p:cNvSpPr/>
          <p:nvPr/>
        </p:nvSpPr>
        <p:spPr>
          <a:xfrm>
            <a:off x="7623274" y="3929063"/>
            <a:ext cx="750094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2450" b="1" dirty="0">
                <a:solidFill>
                  <a:srgbClr val="990000"/>
                </a:solidFill>
                <a:latin typeface="Playfair Display Black" pitchFamily="34" charset="0"/>
                <a:ea typeface="Playfair Display Black" pitchFamily="34" charset="-122"/>
                <a:cs typeface="Playfair Display Black" pitchFamily="34" charset="-120"/>
              </a:rPr>
              <a:t>5/5</a:t>
            </a:r>
            <a:endParaRPr lang="en-US" sz="2450" dirty="0"/>
          </a:p>
        </p:txBody>
      </p:sp>
      <p:sp>
        <p:nvSpPr>
          <p:cNvPr id="22" name="Text 18"/>
          <p:cNvSpPr/>
          <p:nvPr/>
        </p:nvSpPr>
        <p:spPr>
          <a:xfrm>
            <a:off x="7623274" y="4386263"/>
            <a:ext cx="750094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750" kern="0" spc="1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任务类别全覆盖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" y="57150"/>
            <a:ext cx="90297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5775" y="699222"/>
            <a:ext cx="2614613" cy="617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800" b="1" dirty="0">
                <a:solidFill>
                  <a:srgbClr val="222222"/>
                </a:solidFill>
                <a:latin typeface="Playfair Display Black" pitchFamily="34" charset="0"/>
                <a:ea typeface="Playfair Display Black" pitchFamily="34" charset="-122"/>
                <a:cs typeface="Playfair Display Black" pitchFamily="34" charset="-120"/>
              </a:rPr>
              <a:t>消融实验：真实数据与合成数据缺一不可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78656" y="1766488"/>
            <a:ext cx="2421731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物理对齐的必要性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78656" y="2032927"/>
            <a:ext cx="2298502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移除在线数据微调（Grounding）会导致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78656" y="2238645"/>
            <a:ext cx="231457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世界模型产生严重的物理幻觉，合成数据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678656" y="2444362"/>
            <a:ext cx="900113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质量大幅下降。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78656" y="2839389"/>
            <a:ext cx="2421731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数据放大的规模效应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78656" y="3105829"/>
            <a:ext cx="231457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仅使用真实在线数据而不进行合成数据放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78656" y="3311547"/>
            <a:ext cx="231457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大，策略的泛化能力和鲁棒性将受到极大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8656" y="3517264"/>
            <a:ext cx="385763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限制。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78656" y="3912291"/>
            <a:ext cx="2421731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奖励模型的关键作用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78656" y="4178731"/>
            <a:ext cx="2403872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移除 VLM 奖励筛选会导致策略被错误的合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78656" y="4384449"/>
            <a:ext cx="218598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成轨迹误导，性能甚至可能低于基准模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678656" y="4590166"/>
            <a:ext cx="25717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2222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型。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100388" y="57150"/>
            <a:ext cx="6100763" cy="5143500"/>
          </a:xfrm>
          <a:prstGeom prst="rect">
            <a:avLst/>
          </a:prstGeom>
          <a:solidFill>
            <a:srgbClr val="FDFDF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4"/>
          <p:cNvSpPr/>
          <p:nvPr/>
        </p:nvSpPr>
        <p:spPr>
          <a:xfrm>
            <a:off x="3386138" y="628650"/>
            <a:ext cx="1655090" cy="237530"/>
          </a:xfrm>
          <a:prstGeom prst="rect">
            <a:avLst/>
          </a:prstGeom>
          <a:solidFill>
            <a:srgbClr val="22222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5"/>
          <p:cNvSpPr/>
          <p:nvPr/>
        </p:nvSpPr>
        <p:spPr>
          <a:xfrm>
            <a:off x="3386138" y="628650"/>
            <a:ext cx="1655090" cy="237530"/>
          </a:xfrm>
          <a:prstGeom prst="rect">
            <a:avLst/>
          </a:prstGeom>
          <a:noFill/>
          <a:ln/>
        </p:spPr>
        <p:txBody>
          <a:bodyPr wrap="squar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配置方案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5041227" y="628650"/>
            <a:ext cx="966583" cy="237530"/>
          </a:xfrm>
          <a:prstGeom prst="rect">
            <a:avLst/>
          </a:prstGeom>
          <a:solidFill>
            <a:srgbClr val="22222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7"/>
          <p:cNvSpPr/>
          <p:nvPr/>
        </p:nvSpPr>
        <p:spPr>
          <a:xfrm>
            <a:off x="5041227" y="628650"/>
            <a:ext cx="966583" cy="237530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物理对齐 (G)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6007810" y="628650"/>
            <a:ext cx="953328" cy="237530"/>
          </a:xfrm>
          <a:prstGeom prst="rect">
            <a:avLst/>
          </a:prstGeom>
          <a:solidFill>
            <a:srgbClr val="22222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Text 19"/>
          <p:cNvSpPr/>
          <p:nvPr/>
        </p:nvSpPr>
        <p:spPr>
          <a:xfrm>
            <a:off x="6007810" y="628650"/>
            <a:ext cx="953328" cy="237530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数据放大 (S)</a:t>
            </a:r>
            <a:endParaRPr lang="en-US" sz="700" dirty="0"/>
          </a:p>
        </p:txBody>
      </p:sp>
      <p:sp>
        <p:nvSpPr>
          <p:cNvPr id="23" name="Shape 20"/>
          <p:cNvSpPr/>
          <p:nvPr/>
        </p:nvSpPr>
        <p:spPr>
          <a:xfrm>
            <a:off x="6961138" y="628650"/>
            <a:ext cx="953328" cy="237530"/>
          </a:xfrm>
          <a:prstGeom prst="rect">
            <a:avLst/>
          </a:prstGeom>
          <a:solidFill>
            <a:srgbClr val="22222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1"/>
          <p:cNvSpPr/>
          <p:nvPr/>
        </p:nvSpPr>
        <p:spPr>
          <a:xfrm>
            <a:off x="6961138" y="628650"/>
            <a:ext cx="953328" cy="237530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奖励筛选 (R)</a:t>
            </a:r>
            <a:endParaRPr lang="en-US" sz="700" dirty="0"/>
          </a:p>
        </p:txBody>
      </p:sp>
      <p:sp>
        <p:nvSpPr>
          <p:cNvPr id="25" name="Shape 22"/>
          <p:cNvSpPr/>
          <p:nvPr/>
        </p:nvSpPr>
        <p:spPr>
          <a:xfrm>
            <a:off x="7914466" y="628650"/>
            <a:ext cx="858059" cy="237530"/>
          </a:xfrm>
          <a:prstGeom prst="rect">
            <a:avLst/>
          </a:prstGeom>
          <a:solidFill>
            <a:srgbClr val="22222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3"/>
          <p:cNvSpPr/>
          <p:nvPr/>
        </p:nvSpPr>
        <p:spPr>
          <a:xfrm>
            <a:off x="7914466" y="628650"/>
            <a:ext cx="858059" cy="237530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平均成功率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3386138" y="866180"/>
            <a:ext cx="1655090" cy="217884"/>
          </a:xfrm>
          <a:prstGeom prst="rect">
            <a:avLst/>
          </a:prstGeom>
          <a:noFill/>
          <a:ln/>
        </p:spPr>
        <p:txBody>
          <a:bodyPr wrap="squar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222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Baseline (Expert only)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5041227" y="866180"/>
            <a:ext cx="966583" cy="217884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222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6007810" y="866180"/>
            <a:ext cx="953328" cy="217884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222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961138" y="866180"/>
            <a:ext cx="953328" cy="217884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222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7914466" y="866180"/>
            <a:ext cx="858059" cy="217884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222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32.0%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3386138" y="1084064"/>
            <a:ext cx="1655090" cy="221456"/>
          </a:xfrm>
          <a:prstGeom prst="rect">
            <a:avLst/>
          </a:prstGeom>
          <a:noFill/>
          <a:ln/>
        </p:spPr>
        <p:txBody>
          <a:bodyPr wrap="squar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222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w/o Grounding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5041227" y="1084064"/>
            <a:ext cx="966583" cy="221456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222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❌</a:t>
            </a:r>
            <a:endParaRPr lang="en-US" sz="750" dirty="0"/>
          </a:p>
        </p:txBody>
      </p:sp>
      <p:sp>
        <p:nvSpPr>
          <p:cNvPr id="34" name="Text 31"/>
          <p:cNvSpPr/>
          <p:nvPr/>
        </p:nvSpPr>
        <p:spPr>
          <a:xfrm>
            <a:off x="6007810" y="1084064"/>
            <a:ext cx="953328" cy="221456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222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✅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6961138" y="1084064"/>
            <a:ext cx="953328" cy="221456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222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✅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7914466" y="1084064"/>
            <a:ext cx="858059" cy="221456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222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45.5%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3386138" y="1305520"/>
            <a:ext cx="1655090" cy="221456"/>
          </a:xfrm>
          <a:prstGeom prst="rect">
            <a:avLst/>
          </a:prstGeom>
          <a:noFill/>
          <a:ln/>
        </p:spPr>
        <p:txBody>
          <a:bodyPr wrap="squar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222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w/o Scaling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5041227" y="1305520"/>
            <a:ext cx="966583" cy="221456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222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✅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6007810" y="1305520"/>
            <a:ext cx="953328" cy="221456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222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❌</a:t>
            </a:r>
            <a:endParaRPr lang="en-US" sz="750" dirty="0"/>
          </a:p>
        </p:txBody>
      </p:sp>
      <p:sp>
        <p:nvSpPr>
          <p:cNvPr id="40" name="Text 37"/>
          <p:cNvSpPr/>
          <p:nvPr/>
        </p:nvSpPr>
        <p:spPr>
          <a:xfrm>
            <a:off x="6961138" y="1305520"/>
            <a:ext cx="953328" cy="221456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222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7914466" y="1305520"/>
            <a:ext cx="858059" cy="221456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222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58.2%</a:t>
            </a:r>
            <a:endParaRPr lang="en-US" sz="750" dirty="0"/>
          </a:p>
        </p:txBody>
      </p:sp>
      <p:sp>
        <p:nvSpPr>
          <p:cNvPr id="42" name="Shape 39"/>
          <p:cNvSpPr/>
          <p:nvPr/>
        </p:nvSpPr>
        <p:spPr>
          <a:xfrm>
            <a:off x="3386138" y="1526977"/>
            <a:ext cx="5386388" cy="221456"/>
          </a:xfrm>
          <a:prstGeom prst="rect">
            <a:avLst/>
          </a:prstGeom>
          <a:solidFill>
            <a:srgbClr val="FFF5F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3" name="Text 40"/>
          <p:cNvSpPr/>
          <p:nvPr/>
        </p:nvSpPr>
        <p:spPr>
          <a:xfrm>
            <a:off x="3386138" y="1526977"/>
            <a:ext cx="1655090" cy="221456"/>
          </a:xfrm>
          <a:prstGeom prst="rect">
            <a:avLst/>
          </a:prstGeom>
          <a:noFill/>
          <a:ln/>
        </p:spPr>
        <p:txBody>
          <a:bodyPr wrap="squar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VLAW (Full)</a:t>
            </a:r>
            <a:endParaRPr lang="en-US" sz="700" dirty="0"/>
          </a:p>
        </p:txBody>
      </p:sp>
      <p:sp>
        <p:nvSpPr>
          <p:cNvPr id="44" name="Text 41"/>
          <p:cNvSpPr/>
          <p:nvPr/>
        </p:nvSpPr>
        <p:spPr>
          <a:xfrm>
            <a:off x="5041227" y="1526977"/>
            <a:ext cx="966583" cy="221456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✅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6007810" y="1526977"/>
            <a:ext cx="953328" cy="221456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✅</a:t>
            </a:r>
            <a:endParaRPr lang="en-US" sz="700" dirty="0"/>
          </a:p>
        </p:txBody>
      </p:sp>
      <p:sp>
        <p:nvSpPr>
          <p:cNvPr id="46" name="Text 43"/>
          <p:cNvSpPr/>
          <p:nvPr/>
        </p:nvSpPr>
        <p:spPr>
          <a:xfrm>
            <a:off x="6961138" y="1526977"/>
            <a:ext cx="953328" cy="221456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✅</a:t>
            </a:r>
            <a:endParaRPr lang="en-US" sz="700" dirty="0"/>
          </a:p>
        </p:txBody>
      </p:sp>
      <p:sp>
        <p:nvSpPr>
          <p:cNvPr id="47" name="Text 44"/>
          <p:cNvSpPr/>
          <p:nvPr/>
        </p:nvSpPr>
        <p:spPr>
          <a:xfrm>
            <a:off x="7914466" y="1526977"/>
            <a:ext cx="858059" cy="221456"/>
          </a:xfrm>
          <a:prstGeom prst="rect">
            <a:avLst/>
          </a:prstGeom>
          <a:noFill/>
          <a:ln/>
        </p:spPr>
        <p:txBody>
          <a:bodyPr wrap="none" lIns="85090" tIns="102108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84.6%</a:t>
            </a:r>
            <a:endParaRPr lang="en-US" sz="700" dirty="0"/>
          </a:p>
        </p:txBody>
      </p:sp>
      <p:pic>
        <p:nvPicPr>
          <p:cNvPr id="4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6138" y="2037755"/>
            <a:ext cx="5386388" cy="214312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144" y="5718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64856" y="0"/>
            <a:ext cx="7144" cy="5143500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2"/>
          <p:cNvSpPr/>
          <p:nvPr/>
        </p:nvSpPr>
        <p:spPr>
          <a:xfrm>
            <a:off x="571500" y="820527"/>
            <a:ext cx="3714750" cy="3600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2100" b="1" dirty="0">
                <a:solidFill>
                  <a:srgbClr val="222222"/>
                </a:solidFill>
                <a:latin typeface="Playfair Display Black" pitchFamily="34" charset="0"/>
                <a:ea typeface="Playfair Display Black" pitchFamily="34" charset="-122"/>
                <a:cs typeface="Playfair Display Black" pitchFamily="34" charset="-120"/>
              </a:rPr>
              <a:t>总结：VLAW 的核心贡献</a:t>
            </a:r>
            <a:endParaRPr lang="en-US" sz="2100" dirty="0"/>
          </a:p>
        </p:txBody>
      </p:sp>
      <p:sp>
        <p:nvSpPr>
          <p:cNvPr id="6" name="Text 3"/>
          <p:cNvSpPr/>
          <p:nvPr/>
        </p:nvSpPr>
        <p:spPr>
          <a:xfrm>
            <a:off x="571500" y="1494885"/>
            <a:ext cx="371475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kern="0" spc="1" dirty="0">
                <a:solidFill>
                  <a:srgbClr val="99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CORE CONTRIBUTIONS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FCFC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8"/>
          <p:cNvSpPr/>
          <p:nvPr/>
        </p:nvSpPr>
        <p:spPr>
          <a:xfrm>
            <a:off x="5000625" y="571500"/>
            <a:ext cx="3571875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kern="0" spc="1" dirty="0">
                <a:solidFill>
                  <a:srgbClr val="99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FUTURE OUTLOOK</a:t>
            </a:r>
            <a:endParaRPr lang="en-US" sz="12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0625" y="903684"/>
            <a:ext cx="171450" cy="17145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257800" y="885825"/>
            <a:ext cx="1000125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多模态反馈集成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5000625" y="1150144"/>
            <a:ext cx="3571875" cy="365727"/>
          </a:xfrm>
          <a:prstGeom prst="rect">
            <a:avLst/>
          </a:prstGeom>
          <a:noFill/>
          <a:ln/>
        </p:spPr>
        <p:txBody>
          <a:bodyPr wrap="square" lIns="289179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引入触觉、力觉等多维传感器数据，进一步提升世界模型的物理表征精度。</a:t>
            </a:r>
            <a:endParaRPr lang="en-US" sz="85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0625" y="1662317"/>
            <a:ext cx="171450" cy="17145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257800" y="1644458"/>
            <a:ext cx="1000125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长时域任务规划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5000625" y="1908777"/>
            <a:ext cx="3571875" cy="365727"/>
          </a:xfrm>
          <a:prstGeom prst="rect">
            <a:avLst/>
          </a:prstGeom>
          <a:noFill/>
          <a:ln/>
        </p:spPr>
        <p:txBody>
          <a:bodyPr wrap="square" lIns="289179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探索将 VLAW 框架应用于更复杂的长序列任务，实现更高层级的逻辑推理与动作执行。</a:t>
            </a:r>
            <a:endParaRPr lang="en-US" sz="85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0625" y="2420950"/>
            <a:ext cx="214313" cy="17145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300663" y="2403091"/>
            <a:ext cx="1000125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222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跨形态泛化能力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000625" y="2667409"/>
            <a:ext cx="3571875" cy="365727"/>
          </a:xfrm>
          <a:prstGeom prst="rect">
            <a:avLst/>
          </a:prstGeom>
          <a:noFill/>
          <a:ln/>
        </p:spPr>
        <p:txBody>
          <a:bodyPr wrap="square" lIns="289179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研究如何将校准后的物理知识迁移至不同形态的机器人平台，实现通用机器人智能。</a:t>
            </a:r>
            <a:endParaRPr lang="en-US" sz="850" dirty="0"/>
          </a:p>
        </p:txBody>
      </p:sp>
      <p:sp>
        <p:nvSpPr>
          <p:cNvPr id="21" name="Text 15"/>
          <p:cNvSpPr/>
          <p:nvPr/>
        </p:nvSpPr>
        <p:spPr>
          <a:xfrm>
            <a:off x="5000625" y="3204586"/>
            <a:ext cx="3571875" cy="532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22222"/>
                </a:solidFill>
                <a:latin typeface="Playfair Display Black" pitchFamily="34" charset="0"/>
                <a:ea typeface="Playfair Display Black" pitchFamily="34" charset="-122"/>
                <a:cs typeface="Playfair Display Black" pitchFamily="34" charset="-120"/>
              </a:rPr>
              <a:t>Empowering Robots with Physically Grounded Imagination.</a:t>
            </a:r>
            <a:endParaRPr lang="en-US" sz="1400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E5489970-7251-5A62-8759-58BCA346FB36}"/>
              </a:ext>
            </a:extLst>
          </p:cNvPr>
          <p:cNvSpPr txBox="1"/>
          <p:nvPr/>
        </p:nvSpPr>
        <p:spPr>
          <a:xfrm>
            <a:off x="662161" y="1816323"/>
            <a:ext cx="346692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00" b="1" dirty="0"/>
              <a:t>迭代共提升框架</a:t>
            </a:r>
            <a:r>
              <a:rPr lang="zh-CN" altLang="en-US" sz="1000" dirty="0"/>
              <a:t>： 首次提出 VLA 策略与世界模型相互校准、共同进化的闭环优化范式。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67081697-21FE-A0D8-6AD9-525E5C8ACE71}"/>
              </a:ext>
            </a:extLst>
          </p:cNvPr>
          <p:cNvSpPr txBox="1"/>
          <p:nvPr/>
        </p:nvSpPr>
        <p:spPr>
          <a:xfrm>
            <a:off x="662161" y="2371695"/>
            <a:ext cx="347407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00" b="1" dirty="0"/>
              <a:t>物理对齐技术</a:t>
            </a:r>
            <a:r>
              <a:rPr lang="zh-CN" altLang="en-US" sz="1000" dirty="0"/>
              <a:t>： 通过少量在线交互数据，成功解决了扩散世界模型在复杂物理交互中的“乐观偏差”。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32208235-C091-D95D-A2D7-E34B60EE0733}"/>
              </a:ext>
            </a:extLst>
          </p:cNvPr>
          <p:cNvSpPr txBox="1"/>
          <p:nvPr/>
        </p:nvSpPr>
        <p:spPr>
          <a:xfrm>
            <a:off x="662161" y="2927067"/>
            <a:ext cx="35740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00" b="1" dirty="0"/>
              <a:t>可扩展的策略优化</a:t>
            </a:r>
            <a:r>
              <a:rPr lang="zh-CN" altLang="en-US" sz="1000" dirty="0"/>
              <a:t>： 引入 AWR 更新目标，实现了在非似然基策略（Flow-matching）上的大规模合成数据训练。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DD5680E-1177-D648-C7E9-F510269D5B3C}"/>
              </a:ext>
            </a:extLst>
          </p:cNvPr>
          <p:cNvSpPr txBox="1"/>
          <p:nvPr/>
        </p:nvSpPr>
        <p:spPr>
          <a:xfrm>
            <a:off x="252956" y="3736795"/>
            <a:ext cx="40940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dirty="0"/>
              <a:t>“只靠真实机器人数据太贵</a:t>
            </a:r>
            <a:r>
              <a:rPr lang="zh-CN" altLang="en-US" dirty="0"/>
              <a:t>，</a:t>
            </a:r>
            <a:r>
              <a:rPr lang="zh-CN" altLang="zh-CN" dirty="0"/>
              <a:t>但只靠模拟又不准所以正确方式是：真实数据 + 可修正的世界模型 + 循环优化”</a:t>
            </a:r>
            <a:endParaRPr lang="zh-CN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366</TotalTime>
  <Words>868</Words>
  <Application>Microsoft Macintosh PowerPoint</Application>
  <PresentationFormat>全屏显示(16:9)</PresentationFormat>
  <Paragraphs>275</Paragraphs>
  <Slides>14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1" baseType="lpstr">
      <vt:lpstr>Inter</vt:lpstr>
      <vt:lpstr>Inter Bold</vt:lpstr>
      <vt:lpstr>Inter Light</vt:lpstr>
      <vt:lpstr>Arial</vt:lpstr>
      <vt:lpstr>Fira Code</vt:lpstr>
      <vt:lpstr>Playfair Display Black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Ruiyuan Ma</cp:lastModifiedBy>
  <cp:revision>10</cp:revision>
  <dcterms:created xsi:type="dcterms:W3CDTF">2026-06-23T09:54:29Z</dcterms:created>
  <dcterms:modified xsi:type="dcterms:W3CDTF">2026-06-24T09:35:28Z</dcterms:modified>
</cp:coreProperties>
</file>